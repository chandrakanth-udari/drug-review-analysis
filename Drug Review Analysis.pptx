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2cc289388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2cc289388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2cc289388a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2cc289388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2cc289388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12cc289388a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2cc289388a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2cc289388a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2cc289388a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12cc289388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2cc289388a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2cc289388a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2cc289388a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2cc289388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2cc289388a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2cc289388a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2cc289388a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12cc289388a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2cc289388a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2cc289388a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2cc289388a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12cc289388a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2cc289388a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12cc289388a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2cc289388a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12cc289388a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12cc289388a_0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12cc289388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12cc289388a_0_1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12cc289388a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12cc289388a_0_1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12cc289388a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12cc289388a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12cc289388a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2cc289388a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12cc289388a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2cc289388a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2cc289388a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12cc289388a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12cc289388a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12cc289388a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12cc289388a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12cc289388a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12cc289388a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12cc289388a_0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12cc289388a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12cc289388a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12cc289388a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930100"/>
            <a:ext cx="8520600" cy="1904100"/>
          </a:xfrm>
          <a:prstGeom prst="rect">
            <a:avLst/>
          </a:prstGeom>
        </p:spPr>
        <p:txBody>
          <a:bodyPr spcFirstLastPara="1" wrap="square" lIns="91425" tIns="91425" rIns="91425" bIns="91425" anchor="b" anchorCtr="0">
            <a:normAutofit fontScale="90000"/>
          </a:bodyPr>
          <a:lstStyle/>
          <a:p>
            <a:pPr marL="0" lvl="0" indent="0" algn="l" rtl="0">
              <a:lnSpc>
                <a:spcPct val="115000"/>
              </a:lnSpc>
              <a:spcBef>
                <a:spcPts val="0"/>
              </a:spcBef>
              <a:spcAft>
                <a:spcPts val="0"/>
              </a:spcAft>
              <a:buClr>
                <a:schemeClr val="dk1"/>
              </a:buClr>
              <a:buSzPts val="990"/>
              <a:buFont typeface="Arial"/>
              <a:buNone/>
            </a:pPr>
            <a:r>
              <a:rPr lang="en" sz="5533" b="1"/>
              <a:t>Drug Review Data Analysis</a:t>
            </a:r>
            <a:endParaRPr sz="5533" b="1"/>
          </a:p>
          <a:p>
            <a:pPr marL="0" lvl="0" indent="0" algn="l" rtl="0">
              <a:lnSpc>
                <a:spcPct val="115000"/>
              </a:lnSpc>
              <a:spcBef>
                <a:spcPts val="0"/>
              </a:spcBef>
              <a:spcAft>
                <a:spcPts val="0"/>
              </a:spcAft>
              <a:buClr>
                <a:schemeClr val="dk1"/>
              </a:buClr>
              <a:buSzPct val="100000"/>
              <a:buFont typeface="Arial"/>
              <a:buNone/>
            </a:pPr>
            <a:endParaRPr sz="1100" b="1"/>
          </a:p>
          <a:p>
            <a:pPr marL="0" lvl="0" indent="0" algn="ctr" rtl="0">
              <a:spcBef>
                <a:spcPts val="0"/>
              </a:spcBef>
              <a:spcAft>
                <a:spcPts val="0"/>
              </a:spcAft>
              <a:buNone/>
            </a:pP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688"/>
              <a:buNone/>
            </a:pPr>
            <a:endParaRPr sz="1500" dirty="0">
              <a:solidFill>
                <a:schemeClr val="accent2"/>
              </a:solidFill>
              <a:highlight>
                <a:srgbClr val="F2F2F2"/>
              </a:highlight>
            </a:endParaRPr>
          </a:p>
          <a:p>
            <a:pPr marL="0" lvl="0" indent="0" algn="ctr" rtl="0">
              <a:lnSpc>
                <a:spcPct val="80000"/>
              </a:lnSpc>
              <a:spcBef>
                <a:spcPts val="0"/>
              </a:spcBef>
              <a:spcAft>
                <a:spcPts val="0"/>
              </a:spcAft>
              <a:buSzPts val="688"/>
              <a:buNone/>
            </a:pPr>
            <a:r>
              <a:rPr lang="en" sz="1500" dirty="0">
                <a:solidFill>
                  <a:schemeClr val="accent2"/>
                </a:solidFill>
                <a:highlight>
                  <a:srgbClr val="F2F2F2"/>
                </a:highlight>
              </a:rPr>
              <a:t> </a:t>
            </a:r>
            <a:r>
              <a:rPr lang="en" sz="1800" dirty="0">
                <a:solidFill>
                  <a:schemeClr val="accent2"/>
                </a:solidFill>
                <a:highlight>
                  <a:srgbClr val="F2F2F2"/>
                </a:highlight>
              </a:rPr>
              <a:t>Chandrakanth Yadav Udari</a:t>
            </a:r>
            <a:endParaRPr sz="1800" dirty="0">
              <a:solidFill>
                <a:schemeClr val="accent2"/>
              </a:solidFill>
              <a:highlight>
                <a:srgbClr val="F2F2F2"/>
              </a:highlight>
            </a:endParaRPr>
          </a:p>
          <a:p>
            <a:pPr marL="0" lvl="0" indent="0" algn="ctr" rtl="0">
              <a:lnSpc>
                <a:spcPct val="80000"/>
              </a:lnSpc>
              <a:spcBef>
                <a:spcPts val="0"/>
              </a:spcBef>
              <a:spcAft>
                <a:spcPts val="0"/>
              </a:spcAft>
              <a:buSzPts val="688"/>
              <a:buNone/>
            </a:pPr>
            <a:r>
              <a:rPr lang="en" sz="1500" dirty="0">
                <a:solidFill>
                  <a:schemeClr val="accent2"/>
                </a:solidFill>
                <a:highlight>
                  <a:srgbClr val="F2F2F2"/>
                </a:highlight>
              </a:rPr>
              <a:t>Email: </a:t>
            </a:r>
            <a:r>
              <a:rPr lang="en" sz="1500" u="sng" dirty="0">
                <a:solidFill>
                  <a:schemeClr val="hlink"/>
                </a:solidFill>
                <a:highlight>
                  <a:srgbClr val="F2F2F2"/>
                </a:highlight>
              </a:rPr>
              <a:t>chandrakant@workwebmail.com</a:t>
            </a:r>
            <a:endParaRPr sz="1500" dirty="0">
              <a:solidFill>
                <a:schemeClr val="accent2"/>
              </a:solidFill>
              <a:highlight>
                <a:srgbClr val="F2F2F2"/>
              </a:highlight>
            </a:endParaRPr>
          </a:p>
          <a:p>
            <a:pPr marL="0" lvl="0" indent="0" algn="ctr" rtl="0">
              <a:lnSpc>
                <a:spcPct val="80000"/>
              </a:lnSpc>
              <a:spcBef>
                <a:spcPts val="0"/>
              </a:spcBef>
              <a:spcAft>
                <a:spcPts val="0"/>
              </a:spcAft>
              <a:buSzPts val="688"/>
              <a:buNone/>
            </a:pPr>
            <a:endParaRPr sz="1000" dirty="0">
              <a:solidFill>
                <a:schemeClr val="accent2"/>
              </a:solidFill>
              <a:highlight>
                <a:srgbClr val="F2F2F2"/>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Contents</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500" dirty="0">
                <a:solidFill>
                  <a:schemeClr val="dk1"/>
                </a:solidFill>
              </a:rPr>
              <a:t>1) Introduction</a:t>
            </a:r>
            <a:endParaRPr sz="1500" dirty="0">
              <a:solidFill>
                <a:schemeClr val="dk1"/>
              </a:solidFill>
            </a:endParaRPr>
          </a:p>
          <a:p>
            <a:pPr marL="0" lvl="0" indent="0" algn="l" rtl="0">
              <a:spcBef>
                <a:spcPts val="1200"/>
              </a:spcBef>
              <a:spcAft>
                <a:spcPts val="0"/>
              </a:spcAft>
              <a:buClr>
                <a:schemeClr val="dk1"/>
              </a:buClr>
              <a:buSzPts val="1100"/>
              <a:buFont typeface="Arial"/>
              <a:buNone/>
            </a:pPr>
            <a:r>
              <a:rPr lang="en" sz="1500" dirty="0">
                <a:solidFill>
                  <a:schemeClr val="dk1"/>
                </a:solidFill>
              </a:rPr>
              <a:t>2) Agenda</a:t>
            </a:r>
            <a:endParaRPr sz="1500" dirty="0">
              <a:solidFill>
                <a:schemeClr val="dk1"/>
              </a:solidFill>
            </a:endParaRPr>
          </a:p>
          <a:p>
            <a:pPr marL="0" lvl="0" indent="0" algn="l" rtl="0">
              <a:spcBef>
                <a:spcPts val="1200"/>
              </a:spcBef>
              <a:spcAft>
                <a:spcPts val="0"/>
              </a:spcAft>
              <a:buClr>
                <a:schemeClr val="dk1"/>
              </a:buClr>
              <a:buSzPts val="1100"/>
              <a:buFont typeface="Arial"/>
              <a:buNone/>
            </a:pPr>
            <a:r>
              <a:rPr lang="en" sz="1500" dirty="0">
                <a:solidFill>
                  <a:schemeClr val="dk1"/>
                </a:solidFill>
              </a:rPr>
              <a:t>3) Data Understanding Phase</a:t>
            </a:r>
            <a:endParaRPr sz="1500" dirty="0">
              <a:solidFill>
                <a:schemeClr val="dk1"/>
              </a:solidFill>
            </a:endParaRPr>
          </a:p>
          <a:p>
            <a:pPr marL="0" lvl="0" indent="0" algn="l" rtl="0">
              <a:spcBef>
                <a:spcPts val="1200"/>
              </a:spcBef>
              <a:spcAft>
                <a:spcPts val="0"/>
              </a:spcAft>
              <a:buClr>
                <a:schemeClr val="dk1"/>
              </a:buClr>
              <a:buSzPts val="1100"/>
              <a:buFont typeface="Arial"/>
              <a:buNone/>
            </a:pPr>
            <a:r>
              <a:rPr lang="en" sz="1500" dirty="0">
                <a:solidFill>
                  <a:schemeClr val="dk1"/>
                </a:solidFill>
              </a:rPr>
              <a:t>4) Data Preparation Phase</a:t>
            </a:r>
            <a:endParaRPr sz="1500" dirty="0">
              <a:solidFill>
                <a:schemeClr val="dk1"/>
              </a:solidFill>
            </a:endParaRPr>
          </a:p>
          <a:p>
            <a:pPr marL="0" lvl="0" indent="0" algn="l" rtl="0">
              <a:spcBef>
                <a:spcPts val="1200"/>
              </a:spcBef>
              <a:spcAft>
                <a:spcPts val="0"/>
              </a:spcAft>
              <a:buClr>
                <a:schemeClr val="dk1"/>
              </a:buClr>
              <a:buSzPts val="1100"/>
              <a:buFont typeface="Arial"/>
              <a:buNone/>
            </a:pPr>
            <a:r>
              <a:rPr lang="en" sz="1500" dirty="0">
                <a:solidFill>
                  <a:schemeClr val="dk1"/>
                </a:solidFill>
              </a:rPr>
              <a:t>5) Exploratory Data Analysis</a:t>
            </a:r>
            <a:endParaRPr sz="1500" dirty="0">
              <a:solidFill>
                <a:schemeClr val="dk1"/>
              </a:solidFill>
            </a:endParaRPr>
          </a:p>
          <a:p>
            <a:pPr marL="0" lvl="0" indent="0" algn="l" rtl="0">
              <a:lnSpc>
                <a:spcPct val="100000"/>
              </a:lnSpc>
              <a:spcBef>
                <a:spcPts val="1200"/>
              </a:spcBef>
              <a:spcAft>
                <a:spcPts val="0"/>
              </a:spcAft>
              <a:buClr>
                <a:schemeClr val="dk1"/>
              </a:buClr>
              <a:buSzPts val="1100"/>
              <a:buFont typeface="Arial"/>
              <a:buNone/>
            </a:pPr>
            <a:r>
              <a:rPr lang="en" sz="1500" dirty="0">
                <a:solidFill>
                  <a:schemeClr val="dk1"/>
                </a:solidFill>
              </a:rPr>
              <a:t>6) Data Modelling</a:t>
            </a:r>
            <a:endParaRPr sz="1500" dirty="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1500" dirty="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sz="1500" dirty="0">
                <a:solidFill>
                  <a:schemeClr val="dk1"/>
                </a:solidFill>
              </a:rPr>
              <a:t>7) Performance and Results</a:t>
            </a:r>
            <a:endParaRPr sz="1500" dirty="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1500" dirty="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sz="1500" dirty="0">
                <a:solidFill>
                  <a:schemeClr val="dk1"/>
                </a:solidFill>
              </a:rPr>
              <a:t>8) Conclusion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Introduction</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Clr>
                <a:schemeClr val="dk1"/>
              </a:buClr>
              <a:buSzPts val="1500"/>
              <a:buChar char="●"/>
            </a:pPr>
            <a:r>
              <a:rPr lang="en" sz="1500">
                <a:solidFill>
                  <a:schemeClr val="dk1"/>
                </a:solidFill>
              </a:rPr>
              <a:t>The US has the largest pharmaceutical market in the world with a value of $339 billion USD. US prescription drug spending is expected to reach as high as $610 billion by 2021. Pfizer alone spent 7.6 billion dollars on R&amp;D in financial year 2017. The growth is expected to accelerate in coming years. While these drugs are prescribed for their therapeutic properties, their use may result in unintended or adverse effects. There is a need for people to know the quality of drugs in this overcrowded market.</a:t>
            </a:r>
            <a:endParaRPr sz="1500">
              <a:solidFill>
                <a:schemeClr val="dk1"/>
              </a:solidFill>
            </a:endParaRPr>
          </a:p>
          <a:p>
            <a:pPr marL="0" lvl="0" indent="0" algn="l" rtl="0">
              <a:spcBef>
                <a:spcPts val="0"/>
              </a:spcBef>
              <a:spcAft>
                <a:spcPts val="0"/>
              </a:spcAft>
              <a:buClr>
                <a:schemeClr val="dk1"/>
              </a:buClr>
              <a:buSzPts val="1100"/>
              <a:buFont typeface="Arial"/>
              <a:buNone/>
            </a:pP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I plan to use Naïve bayes. Training on distinctive features machine learning algorithm. By evaluating the atypical features on different classifiers, it can be determined which features are the best for predicting the satisfaction rating with review as input. </a:t>
            </a:r>
            <a:endParaRPr sz="15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200"/>
              </a:spcAft>
              <a:buClr>
                <a:schemeClr val="dk1"/>
              </a:buClr>
              <a:buSzPts val="1100"/>
              <a:buFont typeface="Arial"/>
              <a:buNone/>
            </a:pPr>
            <a:r>
              <a:rPr lang="en" sz="2500"/>
              <a:t>Agenda</a:t>
            </a:r>
            <a:endParaRPr sz="2500"/>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Clr>
                <a:srgbClr val="28292E"/>
              </a:buClr>
              <a:buSzPts val="1500"/>
              <a:buChar char="●"/>
            </a:pPr>
            <a:r>
              <a:rPr lang="en" sz="1500" dirty="0">
                <a:solidFill>
                  <a:srgbClr val="28292E"/>
                </a:solidFill>
                <a:highlight>
                  <a:srgbClr val="FFFFFF"/>
                </a:highlight>
              </a:rPr>
              <a:t>In this project we'll be working on Drug Prescription Reviews dataset having [uniqueID, drug Name, condition, review, rating, date, [useful Count] as features. We did preproces our data and did some exploratory data analysis in order to find out the Useful drugs, Useless Drugs. Also did Sentiment analysis using Reviews, Calculate the Effectiveness and Usefulness of Drugs, Analyzing the Medical Conditions and Finding Most Useful and Useless Drugs for each Condition</a:t>
            </a:r>
            <a:endParaRPr sz="1500" dirty="0">
              <a:solidFill>
                <a:srgbClr val="28292E"/>
              </a:solidFill>
              <a:highlight>
                <a:srgbClr val="FFFFFF"/>
              </a:highlight>
            </a:endParaRPr>
          </a:p>
          <a:p>
            <a:pPr marL="457200" lvl="0" indent="0" algn="l" rtl="0">
              <a:spcBef>
                <a:spcPts val="1200"/>
              </a:spcBef>
              <a:spcAft>
                <a:spcPts val="0"/>
              </a:spcAft>
              <a:buNone/>
            </a:pPr>
            <a:endParaRPr sz="1500" dirty="0">
              <a:solidFill>
                <a:schemeClr val="dk1"/>
              </a:solidFill>
            </a:endParaRPr>
          </a:p>
          <a:p>
            <a:pPr marL="457200" lvl="0" indent="-323850" algn="l" rtl="0">
              <a:spcBef>
                <a:spcPts val="0"/>
              </a:spcBef>
              <a:spcAft>
                <a:spcPts val="0"/>
              </a:spcAft>
              <a:buClr>
                <a:schemeClr val="dk1"/>
              </a:buClr>
              <a:buSzPts val="1500"/>
              <a:buChar char="●"/>
            </a:pPr>
            <a:r>
              <a:rPr lang="en" sz="1500" dirty="0">
                <a:solidFill>
                  <a:schemeClr val="dk1"/>
                </a:solidFill>
              </a:rPr>
              <a:t>My project topic is to use various natural language processing techniques and machine learning algorithm to predict the satisfaction rating for a drug based on the reviews provided using python. </a:t>
            </a:r>
            <a:endParaRPr sz="1500" dirty="0">
              <a:solidFill>
                <a:schemeClr val="dk1"/>
              </a:solidFill>
            </a:endParaRPr>
          </a:p>
          <a:p>
            <a:pPr marL="0" lvl="0" indent="0" algn="l" rtl="0">
              <a:spcBef>
                <a:spcPts val="0"/>
              </a:spcBef>
              <a:spcAft>
                <a:spcPts val="0"/>
              </a:spcAft>
              <a:buNone/>
            </a:pPr>
            <a:endParaRPr sz="1100" dirty="0">
              <a:solidFill>
                <a:schemeClr val="dk1"/>
              </a:solidFill>
            </a:endParaRPr>
          </a:p>
          <a:p>
            <a:pPr marL="0" lvl="0" indent="0" algn="l" rtl="0">
              <a:spcBef>
                <a:spcPts val="0"/>
              </a:spcBef>
              <a:spcAft>
                <a:spcPts val="1200"/>
              </a:spcAft>
              <a:buClr>
                <a:schemeClr val="dk1"/>
              </a:buClr>
              <a:buSzPts val="1100"/>
              <a:buFont typeface="Arial"/>
              <a:buNone/>
            </a:pPr>
            <a:endParaRPr sz="1500" dirty="0">
              <a:solidFill>
                <a:srgbClr val="28292E"/>
              </a:solidFill>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179300" y="445025"/>
            <a:ext cx="8652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Data Understanding Phase</a:t>
            </a:r>
            <a:endParaRPr/>
          </a:p>
        </p:txBody>
      </p:sp>
      <p:sp>
        <p:nvSpPr>
          <p:cNvPr id="79" name="Google Shape;79;p17"/>
          <p:cNvSpPr txBox="1">
            <a:spLocks noGrp="1"/>
          </p:cNvSpPr>
          <p:nvPr>
            <p:ph type="body" idx="1"/>
          </p:nvPr>
        </p:nvSpPr>
        <p:spPr>
          <a:xfrm>
            <a:off x="403400" y="1266275"/>
            <a:ext cx="8516400" cy="3686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dirty="0">
                <a:solidFill>
                  <a:schemeClr val="dk1"/>
                </a:solidFill>
              </a:rPr>
              <a:t>I have collected the dataset from kaggle </a:t>
            </a:r>
            <a:endParaRPr sz="1500" dirty="0">
              <a:solidFill>
                <a:schemeClr val="dk1"/>
              </a:solidFill>
            </a:endParaRPr>
          </a:p>
          <a:p>
            <a:pPr marL="0" lvl="0" indent="0" algn="l" rtl="0">
              <a:spcBef>
                <a:spcPts val="0"/>
              </a:spcBef>
              <a:spcAft>
                <a:spcPts val="0"/>
              </a:spcAft>
              <a:buNone/>
            </a:pPr>
            <a:r>
              <a:rPr lang="en" sz="1300" dirty="0">
                <a:solidFill>
                  <a:srgbClr val="18376A"/>
                </a:solidFill>
              </a:rPr>
              <a:t>https://www.kaggle.com/datasets/rohanharode07/webmd-drug-reviews-dataset</a:t>
            </a:r>
            <a:endParaRPr sz="1300" dirty="0">
              <a:solidFill>
                <a:srgbClr val="18376A"/>
              </a:solidFill>
            </a:endParaRPr>
          </a:p>
          <a:p>
            <a:pPr marL="0" lvl="0" indent="0" algn="l" rtl="0">
              <a:spcBef>
                <a:spcPts val="0"/>
              </a:spcBef>
              <a:spcAft>
                <a:spcPts val="0"/>
              </a:spcAft>
              <a:buNone/>
            </a:pPr>
            <a:endParaRPr sz="1500" dirty="0">
              <a:solidFill>
                <a:schemeClr val="dk1"/>
              </a:solidFill>
            </a:endParaRPr>
          </a:p>
          <a:p>
            <a:pPr marL="0" lvl="0" indent="0" algn="l" rtl="0">
              <a:spcBef>
                <a:spcPts val="0"/>
              </a:spcBef>
              <a:spcAft>
                <a:spcPts val="0"/>
              </a:spcAft>
              <a:buNone/>
            </a:pPr>
            <a:r>
              <a:rPr lang="en" sz="1400" dirty="0">
                <a:solidFill>
                  <a:schemeClr val="dk1"/>
                </a:solidFill>
              </a:rPr>
              <a:t>The dataset provides user reviews on specific drugs along with related conditions, side effects, age, sex, and ratings reflecting overall patient satisfaction.  </a:t>
            </a:r>
            <a:endParaRPr sz="1400" dirty="0">
              <a:solidFill>
                <a:schemeClr val="dk1"/>
              </a:solidFill>
            </a:endParaRPr>
          </a:p>
          <a:p>
            <a:pPr marL="0" lvl="0" indent="0" algn="l" rtl="0">
              <a:spcBef>
                <a:spcPts val="0"/>
              </a:spcBef>
              <a:spcAft>
                <a:spcPts val="0"/>
              </a:spcAft>
              <a:buNone/>
            </a:pPr>
            <a:endParaRPr sz="1400" dirty="0">
              <a:solidFill>
                <a:schemeClr val="dk1"/>
              </a:solidFill>
            </a:endParaRPr>
          </a:p>
          <a:p>
            <a:pPr marL="0" lvl="0" indent="0" algn="l" rtl="0">
              <a:spcBef>
                <a:spcPts val="0"/>
              </a:spcBef>
              <a:spcAft>
                <a:spcPts val="0"/>
              </a:spcAft>
              <a:buNone/>
            </a:pPr>
            <a:r>
              <a:rPr lang="en" sz="1400" dirty="0">
                <a:solidFill>
                  <a:schemeClr val="dk1"/>
                </a:solidFill>
              </a:rPr>
              <a:t>Data was acquired by scraping WebMD site. There are around 0.36 million rows of unique reviews and is updated till Mar 2020.  </a:t>
            </a:r>
            <a:endParaRPr sz="1400" dirty="0">
              <a:solidFill>
                <a:schemeClr val="dk1"/>
              </a:solidFill>
            </a:endParaRPr>
          </a:p>
          <a:p>
            <a:pPr marL="0" lvl="0" indent="0" algn="l" rtl="0">
              <a:spcBef>
                <a:spcPts val="0"/>
              </a:spcBef>
              <a:spcAft>
                <a:spcPts val="0"/>
              </a:spcAft>
              <a:buNone/>
            </a:pPr>
            <a:endParaRPr sz="1400" dirty="0">
              <a:solidFill>
                <a:schemeClr val="dk1"/>
              </a:solidFill>
            </a:endParaRPr>
          </a:p>
          <a:p>
            <a:pPr marL="0" lvl="0" indent="0" algn="l" rtl="0">
              <a:spcBef>
                <a:spcPts val="0"/>
              </a:spcBef>
              <a:spcAft>
                <a:spcPts val="0"/>
              </a:spcAft>
              <a:buNone/>
            </a:pPr>
            <a:r>
              <a:rPr lang="en" sz="1400" dirty="0">
                <a:solidFill>
                  <a:schemeClr val="dk1"/>
                </a:solidFill>
              </a:rPr>
              <a:t>Inspiration This dataset intended to answer following questions:  </a:t>
            </a:r>
            <a:endParaRPr sz="1400" dirty="0">
              <a:solidFill>
                <a:schemeClr val="dk1"/>
              </a:solidFill>
            </a:endParaRPr>
          </a:p>
          <a:p>
            <a:pPr marL="457200" lvl="0" indent="-317500" algn="l" rtl="0">
              <a:spcBef>
                <a:spcPts val="1200"/>
              </a:spcBef>
              <a:spcAft>
                <a:spcPts val="0"/>
              </a:spcAft>
              <a:buClr>
                <a:schemeClr val="dk1"/>
              </a:buClr>
              <a:buSzPts val="1400"/>
              <a:buAutoNum type="romanUcPeriod"/>
            </a:pPr>
            <a:r>
              <a:rPr lang="en" sz="1400" dirty="0">
                <a:solidFill>
                  <a:schemeClr val="dk1"/>
                </a:solidFill>
              </a:rPr>
              <a:t>Identifying the satisfaction rating sentiment of the patient based on drug reviews? </a:t>
            </a:r>
            <a:endParaRPr sz="1400" dirty="0">
              <a:solidFill>
                <a:schemeClr val="dk1"/>
              </a:solidFill>
            </a:endParaRPr>
          </a:p>
          <a:p>
            <a:pPr marL="457200" lvl="0" indent="-317500" algn="l" rtl="0">
              <a:spcBef>
                <a:spcPts val="0"/>
              </a:spcBef>
              <a:spcAft>
                <a:spcPts val="0"/>
              </a:spcAft>
              <a:buClr>
                <a:schemeClr val="dk1"/>
              </a:buClr>
              <a:buSzPts val="1400"/>
              <a:buAutoNum type="romanUcPeriod"/>
            </a:pPr>
            <a:r>
              <a:rPr lang="en" sz="1400" dirty="0">
                <a:solidFill>
                  <a:schemeClr val="dk1"/>
                </a:solidFill>
              </a:rPr>
              <a:t>How to predict other rating based on patient’s reviews?</a:t>
            </a:r>
            <a:endParaRPr sz="1400" dirty="0">
              <a:solidFill>
                <a:schemeClr val="dk1"/>
              </a:solidFill>
            </a:endParaRPr>
          </a:p>
          <a:p>
            <a:pPr marL="457200" lvl="0" indent="-317500" algn="l" rtl="0">
              <a:spcBef>
                <a:spcPts val="0"/>
              </a:spcBef>
              <a:spcAft>
                <a:spcPts val="0"/>
              </a:spcAft>
              <a:buClr>
                <a:schemeClr val="dk1"/>
              </a:buClr>
              <a:buSzPts val="1400"/>
              <a:buAutoNum type="romanUcPeriod"/>
            </a:pPr>
            <a:r>
              <a:rPr lang="en" sz="1400" dirty="0">
                <a:solidFill>
                  <a:schemeClr val="dk1"/>
                </a:solidFill>
              </a:rPr>
              <a:t>How to visualize drug rating, kind of drugs, types of conditions of patients (Visualizations)</a:t>
            </a:r>
            <a:endParaRPr sz="1400" dirty="0">
              <a:solidFill>
                <a:schemeClr val="dk1"/>
              </a:solidFill>
            </a:endParaRPr>
          </a:p>
          <a:p>
            <a:pPr marL="457200" lvl="0" indent="0" algn="l" rtl="0">
              <a:spcBef>
                <a:spcPts val="1200"/>
              </a:spcBef>
              <a:spcAft>
                <a:spcPts val="0"/>
              </a:spcAft>
              <a:buNone/>
            </a:pPr>
            <a:endParaRPr sz="1100" dirty="0">
              <a:solidFill>
                <a:schemeClr val="dk1"/>
              </a:solidFill>
            </a:endParaRPr>
          </a:p>
          <a:p>
            <a:pPr marL="0" lvl="0" indent="0" algn="l" rtl="0">
              <a:spcBef>
                <a:spcPts val="1200"/>
              </a:spcBef>
              <a:spcAft>
                <a:spcPts val="0"/>
              </a:spcAft>
              <a:buClr>
                <a:schemeClr val="dk1"/>
              </a:buClr>
              <a:buSzPts val="1100"/>
              <a:buFont typeface="Arial"/>
              <a:buNone/>
            </a:pPr>
            <a:endParaRPr sz="1500"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Data Understanding Phase</a:t>
            </a:r>
            <a:endParaRPr/>
          </a:p>
        </p:txBody>
      </p:sp>
      <p:sp>
        <p:nvSpPr>
          <p:cNvPr id="85" name="Google Shape;8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86" name="Google Shape;86;p18"/>
          <p:cNvPicPr preferRelativeResize="0"/>
          <p:nvPr/>
        </p:nvPicPr>
        <p:blipFill>
          <a:blip r:embed="rId3">
            <a:alphaModFix/>
          </a:blip>
          <a:stretch>
            <a:fillRect/>
          </a:stretch>
        </p:blipFill>
        <p:spPr>
          <a:xfrm>
            <a:off x="311700" y="1152475"/>
            <a:ext cx="8520600" cy="2971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Data Understanding Phase</a:t>
            </a:r>
            <a:endParaRPr/>
          </a:p>
        </p:txBody>
      </p:sp>
      <p:sp>
        <p:nvSpPr>
          <p:cNvPr id="92" name="Google Shape;92;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32500" lnSpcReduction="20000"/>
          </a:bodyPr>
          <a:lstStyle/>
          <a:p>
            <a:pPr marL="0" lvl="0" indent="0" algn="l" rtl="0">
              <a:spcBef>
                <a:spcPts val="0"/>
              </a:spcBef>
              <a:spcAft>
                <a:spcPts val="0"/>
              </a:spcAft>
              <a:buClr>
                <a:schemeClr val="dk1"/>
              </a:buClr>
              <a:buSzPct val="61111"/>
              <a:buFont typeface="Arial"/>
              <a:buNone/>
            </a:pPr>
            <a:endParaRPr/>
          </a:p>
          <a:p>
            <a:pPr marL="457200" lvl="0" indent="-319790" algn="l" rtl="0">
              <a:spcBef>
                <a:spcPts val="1200"/>
              </a:spcBef>
              <a:spcAft>
                <a:spcPts val="0"/>
              </a:spcAft>
              <a:buClr>
                <a:schemeClr val="dk1"/>
              </a:buClr>
              <a:buSzPct val="100000"/>
              <a:buAutoNum type="arabicPeriod"/>
            </a:pPr>
            <a:r>
              <a:rPr lang="en" sz="4418">
                <a:solidFill>
                  <a:schemeClr val="dk1"/>
                </a:solidFill>
              </a:rPr>
              <a:t>Drug (categorical): name of drug </a:t>
            </a:r>
            <a:endParaRPr sz="4418">
              <a:solidFill>
                <a:schemeClr val="dk1"/>
              </a:solidFill>
            </a:endParaRPr>
          </a:p>
          <a:p>
            <a:pPr marL="457200" lvl="0" indent="-319790" algn="l" rtl="0">
              <a:spcBef>
                <a:spcPts val="0"/>
              </a:spcBef>
              <a:spcAft>
                <a:spcPts val="0"/>
              </a:spcAft>
              <a:buClr>
                <a:schemeClr val="dk1"/>
              </a:buClr>
              <a:buSzPct val="100000"/>
              <a:buAutoNum type="arabicPeriod"/>
            </a:pPr>
            <a:r>
              <a:rPr lang="en" sz="4418">
                <a:solidFill>
                  <a:schemeClr val="dk1"/>
                </a:solidFill>
              </a:rPr>
              <a:t>DrugId (numerical): drug id</a:t>
            </a:r>
            <a:endParaRPr sz="4418">
              <a:solidFill>
                <a:schemeClr val="dk1"/>
              </a:solidFill>
            </a:endParaRPr>
          </a:p>
          <a:p>
            <a:pPr marL="457200" lvl="0" indent="-319790" algn="l" rtl="0">
              <a:spcBef>
                <a:spcPts val="0"/>
              </a:spcBef>
              <a:spcAft>
                <a:spcPts val="0"/>
              </a:spcAft>
              <a:buClr>
                <a:schemeClr val="dk1"/>
              </a:buClr>
              <a:buSzPct val="100000"/>
              <a:buAutoNum type="arabicPeriod"/>
            </a:pPr>
            <a:r>
              <a:rPr lang="en" sz="4418">
                <a:solidFill>
                  <a:schemeClr val="dk1"/>
                </a:solidFill>
              </a:rPr>
              <a:t>Condition (categorical): name of condition </a:t>
            </a:r>
            <a:endParaRPr sz="4418">
              <a:solidFill>
                <a:schemeClr val="dk1"/>
              </a:solidFill>
            </a:endParaRPr>
          </a:p>
          <a:p>
            <a:pPr marL="457200" lvl="0" indent="-319790" algn="l" rtl="0">
              <a:spcBef>
                <a:spcPts val="0"/>
              </a:spcBef>
              <a:spcAft>
                <a:spcPts val="0"/>
              </a:spcAft>
              <a:buClr>
                <a:schemeClr val="dk1"/>
              </a:buClr>
              <a:buSzPct val="100000"/>
              <a:buAutoNum type="arabicPeriod"/>
            </a:pPr>
            <a:r>
              <a:rPr lang="en" sz="4418">
                <a:solidFill>
                  <a:schemeClr val="dk1"/>
                </a:solidFill>
              </a:rPr>
              <a:t>Review (text): patient review </a:t>
            </a:r>
            <a:endParaRPr sz="4418">
              <a:solidFill>
                <a:schemeClr val="dk1"/>
              </a:solidFill>
            </a:endParaRPr>
          </a:p>
          <a:p>
            <a:pPr marL="457200" lvl="0" indent="-319790" algn="l" rtl="0">
              <a:spcBef>
                <a:spcPts val="0"/>
              </a:spcBef>
              <a:spcAft>
                <a:spcPts val="0"/>
              </a:spcAft>
              <a:buClr>
                <a:schemeClr val="dk1"/>
              </a:buClr>
              <a:buSzPct val="100000"/>
              <a:buAutoNum type="arabicPeriod"/>
            </a:pPr>
            <a:r>
              <a:rPr lang="en" sz="4418">
                <a:solidFill>
                  <a:schemeClr val="dk1"/>
                </a:solidFill>
              </a:rPr>
              <a:t>Side (text): side effects associated with drug (if any)</a:t>
            </a:r>
            <a:endParaRPr sz="4418">
              <a:solidFill>
                <a:schemeClr val="dk1"/>
              </a:solidFill>
            </a:endParaRPr>
          </a:p>
          <a:p>
            <a:pPr marL="457200" lvl="0" indent="-319790" algn="l" rtl="0">
              <a:spcBef>
                <a:spcPts val="0"/>
              </a:spcBef>
              <a:spcAft>
                <a:spcPts val="0"/>
              </a:spcAft>
              <a:buClr>
                <a:schemeClr val="dk1"/>
              </a:buClr>
              <a:buSzPct val="100000"/>
              <a:buAutoNum type="arabicPeriod"/>
            </a:pPr>
            <a:r>
              <a:rPr lang="en" sz="4418">
                <a:solidFill>
                  <a:schemeClr val="dk1"/>
                </a:solidFill>
              </a:rPr>
              <a:t>EaseOfUse (numerical): 5 star rating  </a:t>
            </a:r>
            <a:endParaRPr sz="4418">
              <a:solidFill>
                <a:schemeClr val="dk1"/>
              </a:solidFill>
            </a:endParaRPr>
          </a:p>
          <a:p>
            <a:pPr marL="457200" lvl="0" indent="-319790" algn="l" rtl="0">
              <a:spcBef>
                <a:spcPts val="0"/>
              </a:spcBef>
              <a:spcAft>
                <a:spcPts val="0"/>
              </a:spcAft>
              <a:buClr>
                <a:schemeClr val="dk1"/>
              </a:buClr>
              <a:buSzPct val="100000"/>
              <a:buAutoNum type="arabicPeriod"/>
            </a:pPr>
            <a:r>
              <a:rPr lang="en" sz="4418">
                <a:solidFill>
                  <a:schemeClr val="dk1"/>
                </a:solidFill>
              </a:rPr>
              <a:t>Effectiveness (numerical): 5 star rating </a:t>
            </a:r>
            <a:endParaRPr sz="4418">
              <a:solidFill>
                <a:schemeClr val="dk1"/>
              </a:solidFill>
            </a:endParaRPr>
          </a:p>
          <a:p>
            <a:pPr marL="457200" lvl="0" indent="-319790" algn="l" rtl="0">
              <a:spcBef>
                <a:spcPts val="0"/>
              </a:spcBef>
              <a:spcAft>
                <a:spcPts val="0"/>
              </a:spcAft>
              <a:buClr>
                <a:schemeClr val="dk1"/>
              </a:buClr>
              <a:buSzPct val="100000"/>
              <a:buAutoNum type="arabicPeriod"/>
            </a:pPr>
            <a:r>
              <a:rPr lang="en" sz="4418">
                <a:solidFill>
                  <a:schemeClr val="dk1"/>
                </a:solidFill>
              </a:rPr>
              <a:t>Satisfaction (numerical): 5 star rating </a:t>
            </a:r>
            <a:endParaRPr sz="4418">
              <a:solidFill>
                <a:schemeClr val="dk1"/>
              </a:solidFill>
            </a:endParaRPr>
          </a:p>
          <a:p>
            <a:pPr marL="457200" lvl="0" indent="-319790" algn="l" rtl="0">
              <a:spcBef>
                <a:spcPts val="0"/>
              </a:spcBef>
              <a:spcAft>
                <a:spcPts val="0"/>
              </a:spcAft>
              <a:buClr>
                <a:schemeClr val="dk1"/>
              </a:buClr>
              <a:buSzPct val="100000"/>
              <a:buAutoNum type="arabicPeriod"/>
            </a:pPr>
            <a:r>
              <a:rPr lang="en" sz="4418">
                <a:solidFill>
                  <a:schemeClr val="dk1"/>
                </a:solidFill>
              </a:rPr>
              <a:t>Date (date): date of review entry </a:t>
            </a:r>
            <a:endParaRPr sz="4418">
              <a:solidFill>
                <a:schemeClr val="dk1"/>
              </a:solidFill>
            </a:endParaRPr>
          </a:p>
          <a:p>
            <a:pPr marL="457200" lvl="0" indent="-319790" algn="l" rtl="0">
              <a:spcBef>
                <a:spcPts val="0"/>
              </a:spcBef>
              <a:spcAft>
                <a:spcPts val="0"/>
              </a:spcAft>
              <a:buClr>
                <a:schemeClr val="dk1"/>
              </a:buClr>
              <a:buSzPct val="100000"/>
              <a:buAutoNum type="arabicPeriod"/>
            </a:pPr>
            <a:r>
              <a:rPr lang="en" sz="4418">
                <a:solidFill>
                  <a:schemeClr val="dk1"/>
                </a:solidFill>
              </a:rPr>
              <a:t>UsefulCount (numerical): number of users who found review useful.</a:t>
            </a:r>
            <a:endParaRPr sz="4418">
              <a:solidFill>
                <a:schemeClr val="dk1"/>
              </a:solidFill>
            </a:endParaRPr>
          </a:p>
          <a:p>
            <a:pPr marL="457200" lvl="0" indent="-319790" algn="l" rtl="0">
              <a:spcBef>
                <a:spcPts val="0"/>
              </a:spcBef>
              <a:spcAft>
                <a:spcPts val="0"/>
              </a:spcAft>
              <a:buClr>
                <a:schemeClr val="dk1"/>
              </a:buClr>
              <a:buSzPct val="100000"/>
              <a:buAutoNum type="arabicPeriod"/>
            </a:pPr>
            <a:r>
              <a:rPr lang="en" sz="4418">
                <a:solidFill>
                  <a:schemeClr val="dk1"/>
                </a:solidFill>
              </a:rPr>
              <a:t>Age (numerical): age group range of user</a:t>
            </a:r>
            <a:endParaRPr sz="4418">
              <a:solidFill>
                <a:schemeClr val="dk1"/>
              </a:solidFill>
            </a:endParaRPr>
          </a:p>
          <a:p>
            <a:pPr marL="457200" lvl="0" indent="-319790" algn="l" rtl="0">
              <a:spcBef>
                <a:spcPts val="0"/>
              </a:spcBef>
              <a:spcAft>
                <a:spcPts val="0"/>
              </a:spcAft>
              <a:buClr>
                <a:schemeClr val="dk1"/>
              </a:buClr>
              <a:buSzPct val="100000"/>
              <a:buAutoNum type="arabicPeriod"/>
            </a:pPr>
            <a:r>
              <a:rPr lang="en" sz="4418">
                <a:solidFill>
                  <a:schemeClr val="dk1"/>
                </a:solidFill>
              </a:rPr>
              <a:t>Sex (categorical): gender of user</a:t>
            </a:r>
            <a:endParaRPr sz="4418">
              <a:solidFill>
                <a:schemeClr val="dk1"/>
              </a:solidFill>
            </a:endParaRPr>
          </a:p>
          <a:p>
            <a:pPr marL="457200" lvl="0" indent="0" algn="l" rtl="0">
              <a:spcBef>
                <a:spcPts val="1400"/>
              </a:spcBef>
              <a:spcAft>
                <a:spcPts val="0"/>
              </a:spcAft>
              <a:buNone/>
            </a:pP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Data Preparation Phase</a:t>
            </a:r>
            <a:endParaRPr/>
          </a:p>
          <a:p>
            <a:pPr marL="0" lvl="0" indent="0" algn="l" rtl="0">
              <a:spcBef>
                <a:spcPts val="0"/>
              </a:spcBef>
              <a:spcAft>
                <a:spcPts val="0"/>
              </a:spcAft>
              <a:buNone/>
            </a:pPr>
            <a:endParaRPr/>
          </a:p>
        </p:txBody>
      </p:sp>
      <p:sp>
        <p:nvSpPr>
          <p:cNvPr id="98" name="Google Shape;98;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23850" algn="l" rtl="0">
              <a:spcBef>
                <a:spcPts val="0"/>
              </a:spcBef>
              <a:spcAft>
                <a:spcPts val="0"/>
              </a:spcAft>
              <a:buClr>
                <a:schemeClr val="dk1"/>
              </a:buClr>
              <a:buSzPts val="1500"/>
              <a:buChar char="●"/>
            </a:pPr>
            <a:r>
              <a:rPr lang="en" sz="1500">
                <a:solidFill>
                  <a:schemeClr val="dk1"/>
                </a:solidFill>
              </a:rPr>
              <a:t>This covers all activities to construct the final dataset from raw data. Data preparation tasks are likely to be performed multiple times and not in any prescribed order. Tasks include table, record, and attribute selection. It also includes transformation and cleaning of data for modeling tools. Fallacious data also needs to be excluded from our data. It involves handling of outliers. Outliers are data points that are much smaller or larger than the rest of the values in the dataset.</a:t>
            </a:r>
            <a:endParaRPr sz="1500">
              <a:solidFill>
                <a:schemeClr val="dk1"/>
              </a:solidFill>
            </a:endParaRPr>
          </a:p>
          <a:p>
            <a:pPr marL="0" lvl="0" indent="0" algn="l" rtl="0">
              <a:spcBef>
                <a:spcPts val="0"/>
              </a:spcBef>
              <a:spcAft>
                <a:spcPts val="0"/>
              </a:spcAft>
              <a:buClr>
                <a:schemeClr val="dk1"/>
              </a:buClr>
              <a:buSzPts val="1100"/>
              <a:buFont typeface="Arial"/>
              <a:buNone/>
            </a:pP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Data cleaning is a very crucial step in any machine learning model, but more so for NLP.</a:t>
            </a:r>
            <a:endParaRPr sz="1500">
              <a:solidFill>
                <a:schemeClr val="dk1"/>
              </a:solidFill>
            </a:endParaRPr>
          </a:p>
          <a:p>
            <a:pPr marL="0" lvl="0" indent="0" algn="l" rtl="0">
              <a:spcBef>
                <a:spcPts val="0"/>
              </a:spcBef>
              <a:spcAft>
                <a:spcPts val="0"/>
              </a:spcAft>
              <a:buClr>
                <a:schemeClr val="dk1"/>
              </a:buClr>
              <a:buSzPts val="1100"/>
              <a:buFont typeface="Arial"/>
              <a:buNone/>
            </a:pP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Without the cleaning process, the dataset is often a cluster of words that the computer doesn’t understand. Here, we will go over the steps done in a typical machine learning text pipeline to clean data.</a:t>
            </a:r>
            <a:endParaRPr sz="1500">
              <a:solidFill>
                <a:schemeClr val="dk1"/>
              </a:solidFill>
            </a:endParaRPr>
          </a:p>
          <a:p>
            <a:pPr marL="0" lvl="0" indent="0" algn="l" rtl="0">
              <a:spcBef>
                <a:spcPts val="0"/>
              </a:spcBef>
              <a:spcAft>
                <a:spcPts val="12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Exploratory Data Analysis</a:t>
            </a:r>
            <a:endParaRPr/>
          </a:p>
        </p:txBody>
      </p:sp>
      <p:sp>
        <p:nvSpPr>
          <p:cNvPr id="104" name="Google Shape;104;p21"/>
          <p:cNvSpPr txBox="1">
            <a:spLocks noGrp="1"/>
          </p:cNvSpPr>
          <p:nvPr>
            <p:ph type="body" idx="1"/>
          </p:nvPr>
        </p:nvSpPr>
        <p:spPr>
          <a:xfrm>
            <a:off x="311700" y="1152475"/>
            <a:ext cx="8520600" cy="3935100"/>
          </a:xfrm>
          <a:prstGeom prst="rect">
            <a:avLst/>
          </a:prstGeom>
        </p:spPr>
        <p:txBody>
          <a:bodyPr spcFirstLastPara="1" wrap="square" lIns="91425" tIns="91425" rIns="91425" bIns="91425" anchor="t" anchorCtr="0">
            <a:normAutofit fontScale="77500" lnSpcReduction="20000"/>
          </a:bodyPr>
          <a:lstStyle/>
          <a:p>
            <a:pPr marL="457200" lvl="0" indent="-311943" algn="l" rtl="0">
              <a:spcBef>
                <a:spcPts val="1200"/>
              </a:spcBef>
              <a:spcAft>
                <a:spcPts val="0"/>
              </a:spcAft>
              <a:buClr>
                <a:schemeClr val="dk1"/>
              </a:buClr>
              <a:buSzPct val="100000"/>
              <a:buAutoNum type="arabicPeriod"/>
            </a:pPr>
            <a:r>
              <a:rPr lang="en" sz="2100" dirty="0">
                <a:solidFill>
                  <a:schemeClr val="dk1"/>
                </a:solidFill>
              </a:rPr>
              <a:t>Removing the null values</a:t>
            </a:r>
            <a:endParaRPr sz="2100" dirty="0">
              <a:solidFill>
                <a:schemeClr val="dk1"/>
              </a:solidFill>
            </a:endParaRPr>
          </a:p>
          <a:p>
            <a:pPr marL="457200" lvl="0" indent="-311943" algn="l" rtl="0">
              <a:spcBef>
                <a:spcPts val="0"/>
              </a:spcBef>
              <a:spcAft>
                <a:spcPts val="0"/>
              </a:spcAft>
              <a:buClr>
                <a:schemeClr val="dk1"/>
              </a:buClr>
              <a:buSzPct val="100000"/>
              <a:buAutoNum type="arabicPeriod"/>
            </a:pPr>
            <a:r>
              <a:rPr lang="en" sz="2100" dirty="0">
                <a:solidFill>
                  <a:schemeClr val="dk1"/>
                </a:solidFill>
              </a:rPr>
              <a:t>Removing the Nan values</a:t>
            </a:r>
            <a:endParaRPr sz="2100" dirty="0">
              <a:solidFill>
                <a:schemeClr val="dk1"/>
              </a:solidFill>
            </a:endParaRPr>
          </a:p>
          <a:p>
            <a:pPr marL="457200" lvl="0" indent="-311943" algn="l" rtl="0">
              <a:spcBef>
                <a:spcPts val="0"/>
              </a:spcBef>
              <a:spcAft>
                <a:spcPts val="0"/>
              </a:spcAft>
              <a:buClr>
                <a:schemeClr val="dk1"/>
              </a:buClr>
              <a:buSzPct val="100000"/>
              <a:buAutoNum type="arabicPeriod"/>
            </a:pPr>
            <a:r>
              <a:rPr lang="en" sz="2100" dirty="0">
                <a:solidFill>
                  <a:schemeClr val="dk1"/>
                </a:solidFill>
              </a:rPr>
              <a:t>Convert the text to lowercase:</a:t>
            </a:r>
            <a:endParaRPr sz="2100" dirty="0">
              <a:solidFill>
                <a:schemeClr val="dk1"/>
              </a:solidFill>
            </a:endParaRPr>
          </a:p>
          <a:p>
            <a:pPr marL="457200" lvl="0" indent="-311943" algn="l" rtl="0">
              <a:spcBef>
                <a:spcPts val="0"/>
              </a:spcBef>
              <a:spcAft>
                <a:spcPts val="0"/>
              </a:spcAft>
              <a:buClr>
                <a:schemeClr val="dk1"/>
              </a:buClr>
              <a:buSzPct val="100000"/>
              <a:buAutoNum type="arabicPeriod"/>
            </a:pPr>
            <a:r>
              <a:rPr lang="en" sz="2100" dirty="0">
                <a:solidFill>
                  <a:schemeClr val="dk1"/>
                </a:solidFill>
              </a:rPr>
              <a:t>Remove punctuation:</a:t>
            </a:r>
            <a:endParaRPr sz="2100" dirty="0">
              <a:solidFill>
                <a:schemeClr val="dk1"/>
              </a:solidFill>
            </a:endParaRPr>
          </a:p>
          <a:p>
            <a:pPr marL="457200" lvl="0" indent="-311943" algn="l" rtl="0">
              <a:spcBef>
                <a:spcPts val="0"/>
              </a:spcBef>
              <a:spcAft>
                <a:spcPts val="0"/>
              </a:spcAft>
              <a:buClr>
                <a:schemeClr val="dk1"/>
              </a:buClr>
              <a:buSzPct val="100000"/>
              <a:buAutoNum type="arabicPeriod"/>
            </a:pPr>
            <a:r>
              <a:rPr lang="en" sz="2100" dirty="0">
                <a:solidFill>
                  <a:schemeClr val="dk1"/>
                </a:solidFill>
              </a:rPr>
              <a:t>Remove stop words:	</a:t>
            </a:r>
            <a:endParaRPr sz="2100" dirty="0">
              <a:solidFill>
                <a:schemeClr val="dk1"/>
              </a:solidFill>
            </a:endParaRPr>
          </a:p>
          <a:p>
            <a:pPr marL="457200" lvl="0" indent="-311943" algn="l" rtl="0">
              <a:spcBef>
                <a:spcPts val="0"/>
              </a:spcBef>
              <a:spcAft>
                <a:spcPts val="0"/>
              </a:spcAft>
              <a:buClr>
                <a:schemeClr val="dk1"/>
              </a:buClr>
              <a:buSzPct val="100000"/>
              <a:buAutoNum type="arabicPeriod"/>
            </a:pPr>
            <a:r>
              <a:rPr lang="en" sz="2100" dirty="0">
                <a:solidFill>
                  <a:schemeClr val="dk1"/>
                </a:solidFill>
              </a:rPr>
              <a:t>Stemming</a:t>
            </a:r>
            <a:endParaRPr sz="2100" dirty="0">
              <a:solidFill>
                <a:schemeClr val="dk1"/>
              </a:solidFill>
            </a:endParaRPr>
          </a:p>
          <a:p>
            <a:pPr marL="457200" lvl="0" indent="-311943" algn="l" rtl="0">
              <a:spcBef>
                <a:spcPts val="0"/>
              </a:spcBef>
              <a:spcAft>
                <a:spcPts val="0"/>
              </a:spcAft>
              <a:buClr>
                <a:schemeClr val="dk1"/>
              </a:buClr>
              <a:buSzPct val="100000"/>
              <a:buAutoNum type="arabicPeriod"/>
            </a:pPr>
            <a:r>
              <a:rPr lang="en" sz="2100" dirty="0">
                <a:solidFill>
                  <a:schemeClr val="dk1"/>
                </a:solidFill>
              </a:rPr>
              <a:t>Removing regular expressions</a:t>
            </a:r>
            <a:endParaRPr sz="2100" dirty="0">
              <a:solidFill>
                <a:schemeClr val="dk1"/>
              </a:solidFill>
            </a:endParaRPr>
          </a:p>
          <a:p>
            <a:pPr marL="457200" lvl="0" indent="-311943" algn="l" rtl="0">
              <a:spcBef>
                <a:spcPts val="0"/>
              </a:spcBef>
              <a:spcAft>
                <a:spcPts val="0"/>
              </a:spcAft>
              <a:buClr>
                <a:schemeClr val="dk1"/>
              </a:buClr>
              <a:buSzPct val="100000"/>
              <a:buAutoNum type="arabicPeriod"/>
            </a:pPr>
            <a:r>
              <a:rPr lang="en" sz="2100" dirty="0">
                <a:solidFill>
                  <a:schemeClr val="dk1"/>
                </a:solidFill>
              </a:rPr>
              <a:t>Creating Corpus</a:t>
            </a:r>
            <a:endParaRPr sz="2100" dirty="0">
              <a:solidFill>
                <a:schemeClr val="dk1"/>
              </a:solidFill>
            </a:endParaRPr>
          </a:p>
          <a:p>
            <a:pPr marL="0" lvl="0" indent="0" algn="l" rtl="0">
              <a:spcBef>
                <a:spcPts val="1200"/>
              </a:spcBef>
              <a:spcAft>
                <a:spcPts val="0"/>
              </a:spcAft>
              <a:buNone/>
            </a:pPr>
            <a:r>
              <a:rPr lang="en" sz="2200" dirty="0">
                <a:solidFill>
                  <a:schemeClr val="dk1"/>
                </a:solidFill>
              </a:rPr>
              <a:t>The other steps in cleaning the data could be removing URLs, HTML tags, emojis, numbers, etc.</a:t>
            </a:r>
            <a:endParaRPr sz="2200" dirty="0">
              <a:solidFill>
                <a:schemeClr val="dk1"/>
              </a:solidFill>
            </a:endParaRPr>
          </a:p>
          <a:p>
            <a:pPr marL="0" lvl="0" indent="0" algn="l" rtl="0">
              <a:spcBef>
                <a:spcPts val="0"/>
              </a:spcBef>
              <a:spcAft>
                <a:spcPts val="0"/>
              </a:spcAft>
              <a:buNone/>
            </a:pPr>
            <a:endParaRPr sz="2200" dirty="0">
              <a:solidFill>
                <a:schemeClr val="dk1"/>
              </a:solidFill>
            </a:endParaRPr>
          </a:p>
          <a:p>
            <a:pPr marL="0" lvl="0" indent="0" algn="l" rtl="0">
              <a:spcBef>
                <a:spcPts val="0"/>
              </a:spcBef>
              <a:spcAft>
                <a:spcPts val="0"/>
              </a:spcAft>
              <a:buNone/>
            </a:pPr>
            <a:r>
              <a:rPr lang="en" sz="2200" dirty="0">
                <a:solidFill>
                  <a:schemeClr val="dk1"/>
                </a:solidFill>
              </a:rPr>
              <a:t>I will also generate Word Cloud which is a data visualization technique used for representing text data in which the size of each word indicates its frequency or importance. </a:t>
            </a:r>
            <a:endParaRPr sz="2200" dirty="0">
              <a:solidFill>
                <a:schemeClr val="dk1"/>
              </a:solidFill>
            </a:endParaRPr>
          </a:p>
          <a:p>
            <a:pPr marL="0" lvl="0" indent="0" algn="l" rtl="0">
              <a:spcBef>
                <a:spcPts val="0"/>
              </a:spcBef>
              <a:spcAft>
                <a:spcPts val="0"/>
              </a:spcAft>
              <a:buNone/>
            </a:pPr>
            <a:endParaRPr sz="1100" dirty="0">
              <a:solidFill>
                <a:schemeClr val="dk1"/>
              </a:solidFill>
            </a:endParaRPr>
          </a:p>
          <a:p>
            <a:pPr marL="0" lvl="0" indent="0" algn="l" rtl="0">
              <a:spcBef>
                <a:spcPts val="1200"/>
              </a:spcBef>
              <a:spcAft>
                <a:spcPts val="0"/>
              </a:spcAft>
              <a:buNone/>
            </a:pPr>
            <a:endParaRPr sz="1500" dirty="0">
              <a:solidFill>
                <a:schemeClr val="dk1"/>
              </a:solidFill>
            </a:endParaRPr>
          </a:p>
          <a:p>
            <a:pPr marL="457200" lvl="0" indent="0" algn="l" rtl="0">
              <a:spcBef>
                <a:spcPts val="1200"/>
              </a:spcBef>
              <a:spcAft>
                <a:spcPts val="0"/>
              </a:spcAft>
              <a:buNone/>
            </a:pPr>
            <a:endParaRPr sz="1500" dirty="0">
              <a:solidFill>
                <a:schemeClr val="dk1"/>
              </a:solidFill>
            </a:endParaRPr>
          </a:p>
          <a:p>
            <a:pPr marL="0" lvl="0" indent="0" algn="l" rtl="0">
              <a:spcBef>
                <a:spcPts val="1200"/>
              </a:spcBef>
              <a:spcAft>
                <a:spcPts val="1200"/>
              </a:spcAft>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311700" y="268950"/>
            <a:ext cx="8520600" cy="616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Exploratory Data Analysis</a:t>
            </a:r>
            <a:endParaRPr/>
          </a:p>
          <a:p>
            <a:pPr marL="0" lvl="0" indent="0" algn="l" rtl="0">
              <a:spcBef>
                <a:spcPts val="0"/>
              </a:spcBef>
              <a:spcAft>
                <a:spcPts val="0"/>
              </a:spcAft>
              <a:buNone/>
            </a:pPr>
            <a:endParaRPr/>
          </a:p>
        </p:txBody>
      </p:sp>
      <p:sp>
        <p:nvSpPr>
          <p:cNvPr id="110" name="Google Shape;110;p22"/>
          <p:cNvSpPr txBox="1">
            <a:spLocks noGrp="1"/>
          </p:cNvSpPr>
          <p:nvPr>
            <p:ph type="body" idx="1"/>
          </p:nvPr>
        </p:nvSpPr>
        <p:spPr>
          <a:xfrm>
            <a:off x="311700" y="829225"/>
            <a:ext cx="8520600" cy="41013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1300" b="1">
                <a:solidFill>
                  <a:schemeClr val="dk1"/>
                </a:solidFill>
                <a:highlight>
                  <a:schemeClr val="lt1"/>
                </a:highlight>
              </a:rPr>
              <a:t>Exploratory Data Analysis (EDA) </a:t>
            </a:r>
            <a:r>
              <a:rPr lang="en" sz="1300">
                <a:solidFill>
                  <a:schemeClr val="dk1"/>
                </a:solidFill>
                <a:highlight>
                  <a:schemeClr val="lt1"/>
                </a:highlight>
              </a:rPr>
              <a:t>is an approach to analyze the data using visual techniques. It is used to discover trends, patterns, or to check assumptions with the help of statistical summary and graphical representations. </a:t>
            </a:r>
            <a:endParaRPr sz="1300">
              <a:solidFill>
                <a:schemeClr val="dk1"/>
              </a:solidFill>
              <a:highlight>
                <a:schemeClr val="lt1"/>
              </a:highlight>
            </a:endParaRPr>
          </a:p>
          <a:p>
            <a:pPr marL="0" lvl="0" indent="0" algn="l" rtl="0">
              <a:spcBef>
                <a:spcPts val="800"/>
              </a:spcBef>
              <a:spcAft>
                <a:spcPts val="0"/>
              </a:spcAft>
              <a:buNone/>
            </a:pPr>
            <a:r>
              <a:rPr lang="en" sz="1300" b="1">
                <a:solidFill>
                  <a:schemeClr val="dk1"/>
                </a:solidFill>
              </a:rPr>
              <a:t>Gender Distribution:</a:t>
            </a:r>
            <a:endParaRPr sz="1300" b="1">
              <a:solidFill>
                <a:schemeClr val="dk1"/>
              </a:solidFill>
            </a:endParaRPr>
          </a:p>
          <a:p>
            <a:pPr marL="0" lvl="0" indent="0" algn="l" rtl="0">
              <a:spcBef>
                <a:spcPts val="0"/>
              </a:spcBef>
              <a:spcAft>
                <a:spcPts val="0"/>
              </a:spcAft>
              <a:buNone/>
            </a:pPr>
            <a:r>
              <a:rPr lang="en" sz="1300">
                <a:solidFill>
                  <a:schemeClr val="dk1"/>
                </a:solidFill>
              </a:rPr>
              <a:t>This below graph shows gender distribution for whole data.</a:t>
            </a:r>
            <a:endParaRPr sz="1300">
              <a:solidFill>
                <a:schemeClr val="dk1"/>
              </a:solidFill>
            </a:endParaRPr>
          </a:p>
          <a:p>
            <a:pPr marL="0" lvl="0" indent="0" algn="l" rtl="0">
              <a:spcBef>
                <a:spcPts val="0"/>
              </a:spcBef>
              <a:spcAft>
                <a:spcPts val="0"/>
              </a:spcAft>
              <a:buNone/>
            </a:pPr>
            <a:endParaRPr sz="1100">
              <a:solidFill>
                <a:schemeClr val="dk1"/>
              </a:solidFill>
            </a:endParaRPr>
          </a:p>
          <a:p>
            <a:pPr marL="0" lvl="0" indent="0" algn="just" rtl="0">
              <a:spcBef>
                <a:spcPts val="0"/>
              </a:spcBef>
              <a:spcAft>
                <a:spcPts val="800"/>
              </a:spcAft>
              <a:buClr>
                <a:schemeClr val="dk1"/>
              </a:buClr>
              <a:buSzPts val="1100"/>
              <a:buFont typeface="Arial"/>
              <a:buNone/>
            </a:pPr>
            <a:endParaRPr sz="1300">
              <a:solidFill>
                <a:schemeClr val="dk1"/>
              </a:solidFill>
              <a:highlight>
                <a:schemeClr val="lt1"/>
              </a:highlight>
            </a:endParaRPr>
          </a:p>
        </p:txBody>
      </p:sp>
      <p:pic>
        <p:nvPicPr>
          <p:cNvPr id="111" name="Google Shape;111;p22"/>
          <p:cNvPicPr preferRelativeResize="0"/>
          <p:nvPr/>
        </p:nvPicPr>
        <p:blipFill>
          <a:blip r:embed="rId3">
            <a:alphaModFix/>
          </a:blip>
          <a:stretch>
            <a:fillRect/>
          </a:stretch>
        </p:blipFill>
        <p:spPr>
          <a:xfrm>
            <a:off x="0" y="1983450"/>
            <a:ext cx="9144002" cy="3014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3"/>
          <p:cNvSpPr txBox="1">
            <a:spLocks noGrp="1"/>
          </p:cNvSpPr>
          <p:nvPr>
            <p:ph type="title"/>
          </p:nvPr>
        </p:nvSpPr>
        <p:spPr>
          <a:xfrm>
            <a:off x="311700" y="156875"/>
            <a:ext cx="8520600" cy="68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t>Exploratory Data Analysis</a:t>
            </a:r>
            <a:endParaRPr/>
          </a:p>
        </p:txBody>
      </p:sp>
      <p:sp>
        <p:nvSpPr>
          <p:cNvPr id="117" name="Google Shape;117;p23"/>
          <p:cNvSpPr txBox="1">
            <a:spLocks noGrp="1"/>
          </p:cNvSpPr>
          <p:nvPr>
            <p:ph type="body" idx="1"/>
          </p:nvPr>
        </p:nvSpPr>
        <p:spPr>
          <a:xfrm>
            <a:off x="311700" y="974900"/>
            <a:ext cx="8520600" cy="3989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300">
                <a:solidFill>
                  <a:schemeClr val="dk1"/>
                </a:solidFill>
              </a:rPr>
              <a:t>I’ve noticed that these values contain M, F and Nan values with empty spaces.  Which is error in data, and I’ve removed it replacing with Nan value and then removing them. Then we can see only male and female in below graph,</a:t>
            </a:r>
            <a:endParaRPr sz="1300">
              <a:solidFill>
                <a:schemeClr val="dk1"/>
              </a:solidFill>
            </a:endParaRPr>
          </a:p>
          <a:p>
            <a:pPr marL="0" lvl="0" indent="0" algn="l" rtl="0">
              <a:spcBef>
                <a:spcPts val="0"/>
              </a:spcBef>
              <a:spcAft>
                <a:spcPts val="0"/>
              </a:spcAft>
              <a:buNone/>
            </a:pPr>
            <a:endParaRPr sz="1300">
              <a:solidFill>
                <a:schemeClr val="dk1"/>
              </a:solidFill>
            </a:endParaRPr>
          </a:p>
          <a:p>
            <a:pPr marL="0" lvl="0" indent="0" algn="l" rtl="0">
              <a:spcBef>
                <a:spcPts val="0"/>
              </a:spcBef>
              <a:spcAft>
                <a:spcPts val="0"/>
              </a:spcAft>
              <a:buNone/>
            </a:pPr>
            <a:endParaRPr sz="1300">
              <a:solidFill>
                <a:schemeClr val="dk1"/>
              </a:solidFill>
            </a:endParaRPr>
          </a:p>
          <a:p>
            <a:pPr marL="0" lvl="0" indent="0" algn="l" rtl="0">
              <a:spcBef>
                <a:spcPts val="0"/>
              </a:spcBef>
              <a:spcAft>
                <a:spcPts val="0"/>
              </a:spcAft>
              <a:buClr>
                <a:schemeClr val="dk1"/>
              </a:buClr>
              <a:buSzPts val="1100"/>
              <a:buFont typeface="Arial"/>
              <a:buNone/>
            </a:pPr>
            <a:endParaRPr sz="1300">
              <a:solidFill>
                <a:schemeClr val="dk1"/>
              </a:solidFill>
            </a:endParaRPr>
          </a:p>
          <a:p>
            <a:pPr marL="0" lvl="0" indent="0" algn="l" rtl="0">
              <a:spcBef>
                <a:spcPts val="0"/>
              </a:spcBef>
              <a:spcAft>
                <a:spcPts val="0"/>
              </a:spcAft>
              <a:buClr>
                <a:schemeClr val="dk1"/>
              </a:buClr>
              <a:buSzPts val="1100"/>
              <a:buFont typeface="Arial"/>
              <a:buNone/>
            </a:pPr>
            <a:endParaRPr sz="900">
              <a:solidFill>
                <a:schemeClr val="dk1"/>
              </a:solidFill>
            </a:endParaRPr>
          </a:p>
          <a:p>
            <a:pPr marL="0" lvl="0" indent="0" algn="l" rtl="0">
              <a:spcBef>
                <a:spcPts val="0"/>
              </a:spcBef>
              <a:spcAft>
                <a:spcPts val="1200"/>
              </a:spcAft>
              <a:buNone/>
            </a:pPr>
            <a:endParaRPr/>
          </a:p>
        </p:txBody>
      </p:sp>
      <p:pic>
        <p:nvPicPr>
          <p:cNvPr id="118" name="Google Shape;118;p23"/>
          <p:cNvPicPr preferRelativeResize="0"/>
          <p:nvPr/>
        </p:nvPicPr>
        <p:blipFill>
          <a:blip r:embed="rId3">
            <a:alphaModFix/>
          </a:blip>
          <a:stretch>
            <a:fillRect/>
          </a:stretch>
        </p:blipFill>
        <p:spPr>
          <a:xfrm>
            <a:off x="156875" y="1848975"/>
            <a:ext cx="8919898" cy="3115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4"/>
          <p:cNvSpPr txBox="1">
            <a:spLocks noGrp="1"/>
          </p:cNvSpPr>
          <p:nvPr>
            <p:ph type="title"/>
          </p:nvPr>
        </p:nvSpPr>
        <p:spPr>
          <a:xfrm>
            <a:off x="311700" y="212900"/>
            <a:ext cx="8520600" cy="627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t>Exploratory Data Analysis</a:t>
            </a:r>
            <a:endParaRPr/>
          </a:p>
        </p:txBody>
      </p:sp>
      <p:sp>
        <p:nvSpPr>
          <p:cNvPr id="124" name="Google Shape;124;p24"/>
          <p:cNvSpPr txBox="1">
            <a:spLocks noGrp="1"/>
          </p:cNvSpPr>
          <p:nvPr>
            <p:ph type="body" idx="1"/>
          </p:nvPr>
        </p:nvSpPr>
        <p:spPr>
          <a:xfrm>
            <a:off x="311700" y="840500"/>
            <a:ext cx="8520600" cy="4045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25" name="Google Shape;125;p24"/>
          <p:cNvPicPr preferRelativeResize="0"/>
          <p:nvPr/>
        </p:nvPicPr>
        <p:blipFill>
          <a:blip r:embed="rId3">
            <a:alphaModFix/>
          </a:blip>
          <a:stretch>
            <a:fillRect/>
          </a:stretch>
        </p:blipFill>
        <p:spPr>
          <a:xfrm>
            <a:off x="156875" y="840500"/>
            <a:ext cx="8796623" cy="415732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5"/>
          <p:cNvSpPr txBox="1">
            <a:spLocks noGrp="1"/>
          </p:cNvSpPr>
          <p:nvPr>
            <p:ph type="title"/>
          </p:nvPr>
        </p:nvSpPr>
        <p:spPr>
          <a:xfrm>
            <a:off x="311700" y="100850"/>
            <a:ext cx="8520600" cy="68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t>Exploratory Data Analysis</a:t>
            </a:r>
            <a:endParaRPr/>
          </a:p>
        </p:txBody>
      </p:sp>
      <p:sp>
        <p:nvSpPr>
          <p:cNvPr id="131" name="Google Shape;131;p25"/>
          <p:cNvSpPr txBox="1">
            <a:spLocks noGrp="1"/>
          </p:cNvSpPr>
          <p:nvPr>
            <p:ph type="body" idx="1"/>
          </p:nvPr>
        </p:nvSpPr>
        <p:spPr>
          <a:xfrm>
            <a:off x="311700" y="739600"/>
            <a:ext cx="8520600" cy="417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300">
                <a:solidFill>
                  <a:schemeClr val="dk1"/>
                </a:solidFill>
              </a:rPr>
              <a:t>There is a very less correlation of ease-of-use to satisfaction rating as per this chart</a:t>
            </a:r>
            <a:endParaRPr sz="1300">
              <a:solidFill>
                <a:schemeClr val="dk1"/>
              </a:solidFill>
            </a:endParaRPr>
          </a:p>
          <a:p>
            <a:pPr marL="0" lvl="0" indent="0" algn="l" rtl="0">
              <a:spcBef>
                <a:spcPts val="0"/>
              </a:spcBef>
              <a:spcAft>
                <a:spcPts val="0"/>
              </a:spcAft>
              <a:buClr>
                <a:schemeClr val="dk1"/>
              </a:buClr>
              <a:buSzPts val="1100"/>
              <a:buFont typeface="Arial"/>
              <a:buNone/>
            </a:pPr>
            <a:r>
              <a:rPr lang="en" sz="1300">
                <a:solidFill>
                  <a:schemeClr val="dk1"/>
                </a:solidFill>
              </a:rPr>
              <a:t>But if we compare satisfaction rating with effectiveness rating , they are highly correlated.</a:t>
            </a:r>
            <a:endParaRPr sz="13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1200"/>
              </a:spcAft>
              <a:buNone/>
            </a:pPr>
            <a:endParaRPr/>
          </a:p>
        </p:txBody>
      </p:sp>
      <p:pic>
        <p:nvPicPr>
          <p:cNvPr id="132" name="Google Shape;132;p25"/>
          <p:cNvPicPr preferRelativeResize="0"/>
          <p:nvPr/>
        </p:nvPicPr>
        <p:blipFill>
          <a:blip r:embed="rId3">
            <a:alphaModFix/>
          </a:blip>
          <a:stretch>
            <a:fillRect/>
          </a:stretch>
        </p:blipFill>
        <p:spPr>
          <a:xfrm>
            <a:off x="112050" y="1445550"/>
            <a:ext cx="8975924" cy="35970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6"/>
          <p:cNvSpPr txBox="1">
            <a:spLocks noGrp="1"/>
          </p:cNvSpPr>
          <p:nvPr>
            <p:ph type="title"/>
          </p:nvPr>
        </p:nvSpPr>
        <p:spPr>
          <a:xfrm>
            <a:off x="311700" y="89650"/>
            <a:ext cx="8520600" cy="638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t>Exploratory Data Analysis</a:t>
            </a:r>
            <a:endParaRPr/>
          </a:p>
        </p:txBody>
      </p:sp>
      <p:sp>
        <p:nvSpPr>
          <p:cNvPr id="138" name="Google Shape;138;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39" name="Google Shape;139;p26"/>
          <p:cNvPicPr preferRelativeResize="0"/>
          <p:nvPr/>
        </p:nvPicPr>
        <p:blipFill>
          <a:blip r:embed="rId3">
            <a:alphaModFix/>
          </a:blip>
          <a:stretch>
            <a:fillRect/>
          </a:stretch>
        </p:blipFill>
        <p:spPr>
          <a:xfrm>
            <a:off x="190500" y="638725"/>
            <a:ext cx="8729402" cy="437029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7"/>
          <p:cNvSpPr txBox="1">
            <a:spLocks noGrp="1"/>
          </p:cNvSpPr>
          <p:nvPr>
            <p:ph type="title"/>
          </p:nvPr>
        </p:nvSpPr>
        <p:spPr>
          <a:xfrm>
            <a:off x="311700" y="145675"/>
            <a:ext cx="8520600" cy="627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t>Exploratory Data Analysis</a:t>
            </a:r>
            <a:endParaRPr/>
          </a:p>
        </p:txBody>
      </p:sp>
      <p:sp>
        <p:nvSpPr>
          <p:cNvPr id="145" name="Google Shape;145;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6" name="Google Shape;146;p27"/>
          <p:cNvPicPr preferRelativeResize="0"/>
          <p:nvPr/>
        </p:nvPicPr>
        <p:blipFill>
          <a:blip r:embed="rId3">
            <a:alphaModFix/>
          </a:blip>
          <a:stretch>
            <a:fillRect/>
          </a:stretch>
        </p:blipFill>
        <p:spPr>
          <a:xfrm>
            <a:off x="112050" y="773275"/>
            <a:ext cx="4146177" cy="4202125"/>
          </a:xfrm>
          <a:prstGeom prst="rect">
            <a:avLst/>
          </a:prstGeom>
          <a:noFill/>
          <a:ln>
            <a:noFill/>
          </a:ln>
        </p:spPr>
      </p:pic>
      <p:pic>
        <p:nvPicPr>
          <p:cNvPr id="147" name="Google Shape;147;p27"/>
          <p:cNvPicPr preferRelativeResize="0"/>
          <p:nvPr/>
        </p:nvPicPr>
        <p:blipFill>
          <a:blip r:embed="rId4">
            <a:alphaModFix/>
          </a:blip>
          <a:stretch>
            <a:fillRect/>
          </a:stretch>
        </p:blipFill>
        <p:spPr>
          <a:xfrm>
            <a:off x="4258225" y="773275"/>
            <a:ext cx="4695276" cy="4202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8"/>
          <p:cNvSpPr txBox="1">
            <a:spLocks noGrp="1"/>
          </p:cNvSpPr>
          <p:nvPr>
            <p:ph type="title"/>
          </p:nvPr>
        </p:nvSpPr>
        <p:spPr>
          <a:xfrm>
            <a:off x="311700" y="56025"/>
            <a:ext cx="8520600" cy="605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Exploratory Data Analysis</a:t>
            </a:r>
            <a:endParaRPr/>
          </a:p>
        </p:txBody>
      </p:sp>
      <p:sp>
        <p:nvSpPr>
          <p:cNvPr id="153" name="Google Shape;153;p28"/>
          <p:cNvSpPr txBox="1">
            <a:spLocks noGrp="1"/>
          </p:cNvSpPr>
          <p:nvPr>
            <p:ph type="body" idx="1"/>
          </p:nvPr>
        </p:nvSpPr>
        <p:spPr>
          <a:xfrm>
            <a:off x="311700" y="661125"/>
            <a:ext cx="8520600" cy="429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300">
                <a:solidFill>
                  <a:schemeClr val="dk1"/>
                </a:solidFill>
              </a:rPr>
              <a:t>Word Cloud</a:t>
            </a:r>
            <a:endParaRPr sz="1300">
              <a:solidFill>
                <a:schemeClr val="dk1"/>
              </a:solidFill>
            </a:endParaRPr>
          </a:p>
          <a:p>
            <a:pPr marL="546100" lvl="0" indent="0" algn="l" rtl="0">
              <a:spcBef>
                <a:spcPts val="0"/>
              </a:spcBef>
              <a:spcAft>
                <a:spcPts val="0"/>
              </a:spcAft>
              <a:buClr>
                <a:schemeClr val="dk1"/>
              </a:buClr>
              <a:buSzPts val="1100"/>
              <a:buFont typeface="Arial"/>
              <a:buNone/>
            </a:pPr>
            <a:endParaRPr sz="1300">
              <a:solidFill>
                <a:schemeClr val="dk1"/>
              </a:solidFill>
            </a:endParaRPr>
          </a:p>
          <a:p>
            <a:pPr marL="50800" lvl="0" indent="0" algn="l" rtl="0">
              <a:spcBef>
                <a:spcPts val="0"/>
              </a:spcBef>
              <a:spcAft>
                <a:spcPts val="0"/>
              </a:spcAft>
              <a:buClr>
                <a:schemeClr val="dk1"/>
              </a:buClr>
              <a:buSzPts val="1100"/>
              <a:buFont typeface="Arial"/>
              <a:buNone/>
            </a:pPr>
            <a:r>
              <a:rPr lang="en" sz="1300">
                <a:solidFill>
                  <a:schemeClr val="dk1"/>
                </a:solidFill>
              </a:rPr>
              <a:t>Word Cloud is a data visualization technique used for representing text data in which the size of each word indicates its frequency or importance. Significant textual data points can be highlighted using a word cloud. </a:t>
            </a:r>
            <a:endParaRPr sz="1300">
              <a:solidFill>
                <a:schemeClr val="dk1"/>
              </a:solidFill>
            </a:endParaRPr>
          </a:p>
          <a:p>
            <a:pPr marL="50800" lvl="0" indent="0" algn="l" rtl="0">
              <a:spcBef>
                <a:spcPts val="0"/>
              </a:spcBef>
              <a:spcAft>
                <a:spcPts val="0"/>
              </a:spcAft>
              <a:buClr>
                <a:schemeClr val="dk1"/>
              </a:buClr>
              <a:buSzPts val="1100"/>
              <a:buFont typeface="Arial"/>
              <a:buNone/>
            </a:pPr>
            <a:r>
              <a:rPr lang="en" sz="1300">
                <a:solidFill>
                  <a:schemeClr val="dk1"/>
                </a:solidFill>
              </a:rPr>
              <a:t>Word clouds are widely used for analyzing data especially dealing with NLP and text </a:t>
            </a:r>
            <a:endParaRPr sz="1300">
              <a:solidFill>
                <a:schemeClr val="dk1"/>
              </a:solidFill>
            </a:endParaRPr>
          </a:p>
          <a:p>
            <a:pPr marL="0" lvl="0" indent="0" algn="l" rtl="0">
              <a:spcBef>
                <a:spcPts val="0"/>
              </a:spcBef>
              <a:spcAft>
                <a:spcPts val="0"/>
              </a:spcAft>
              <a:buClr>
                <a:schemeClr val="dk1"/>
              </a:buClr>
              <a:buSzPts val="1100"/>
              <a:buFont typeface="Arial"/>
              <a:buNone/>
            </a:pPr>
            <a:endParaRPr sz="1300">
              <a:solidFill>
                <a:schemeClr val="dk1"/>
              </a:solidFill>
            </a:endParaRPr>
          </a:p>
          <a:p>
            <a:pPr marL="0" lvl="0" indent="0" algn="l" rtl="0">
              <a:spcBef>
                <a:spcPts val="0"/>
              </a:spcBef>
              <a:spcAft>
                <a:spcPts val="0"/>
              </a:spcAft>
              <a:buClr>
                <a:schemeClr val="dk1"/>
              </a:buClr>
              <a:buSzPts val="1100"/>
              <a:buFont typeface="Arial"/>
              <a:buNone/>
            </a:pPr>
            <a:r>
              <a:rPr lang="en" sz="1300">
                <a:solidFill>
                  <a:schemeClr val="dk1"/>
                </a:solidFill>
              </a:rPr>
              <a:t>The below word cloud is for the most common drugs</a:t>
            </a:r>
            <a:endParaRPr sz="1300">
              <a:solidFill>
                <a:schemeClr val="dk1"/>
              </a:solidFill>
            </a:endParaRPr>
          </a:p>
          <a:p>
            <a:pPr marL="0" lvl="0" indent="0" algn="l" rtl="0">
              <a:spcBef>
                <a:spcPts val="0"/>
              </a:spcBef>
              <a:spcAft>
                <a:spcPts val="0"/>
              </a:spcAft>
              <a:buClr>
                <a:schemeClr val="dk1"/>
              </a:buClr>
              <a:buSzPts val="1100"/>
              <a:buFont typeface="Arial"/>
              <a:buNone/>
            </a:pPr>
            <a:endParaRPr sz="1300">
              <a:solidFill>
                <a:schemeClr val="dk1"/>
              </a:solidFill>
            </a:endParaRPr>
          </a:p>
          <a:p>
            <a:pPr marL="0" lvl="0" indent="0" algn="l" rtl="0">
              <a:spcBef>
                <a:spcPts val="0"/>
              </a:spcBef>
              <a:spcAft>
                <a:spcPts val="1200"/>
              </a:spcAft>
              <a:buNone/>
            </a:pPr>
            <a:endParaRPr/>
          </a:p>
        </p:txBody>
      </p:sp>
      <p:pic>
        <p:nvPicPr>
          <p:cNvPr id="154" name="Google Shape;154;p28"/>
          <p:cNvPicPr preferRelativeResize="0"/>
          <p:nvPr/>
        </p:nvPicPr>
        <p:blipFill>
          <a:blip r:embed="rId3">
            <a:alphaModFix/>
          </a:blip>
          <a:stretch>
            <a:fillRect/>
          </a:stretch>
        </p:blipFill>
        <p:spPr>
          <a:xfrm>
            <a:off x="1131775" y="2330825"/>
            <a:ext cx="5759849" cy="26782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9"/>
          <p:cNvSpPr txBox="1">
            <a:spLocks noGrp="1"/>
          </p:cNvSpPr>
          <p:nvPr>
            <p:ph type="title"/>
          </p:nvPr>
        </p:nvSpPr>
        <p:spPr>
          <a:xfrm>
            <a:off x="311700" y="89650"/>
            <a:ext cx="8520600" cy="571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Exploratory Data Analysis</a:t>
            </a:r>
            <a:endParaRPr/>
          </a:p>
        </p:txBody>
      </p:sp>
      <p:sp>
        <p:nvSpPr>
          <p:cNvPr id="160" name="Google Shape;160;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1" name="Google Shape;161;p29"/>
          <p:cNvPicPr preferRelativeResize="0"/>
          <p:nvPr/>
        </p:nvPicPr>
        <p:blipFill>
          <a:blip r:embed="rId3">
            <a:alphaModFix/>
          </a:blip>
          <a:stretch>
            <a:fillRect/>
          </a:stretch>
        </p:blipFill>
        <p:spPr>
          <a:xfrm>
            <a:off x="112050" y="874050"/>
            <a:ext cx="4067751" cy="4157401"/>
          </a:xfrm>
          <a:prstGeom prst="rect">
            <a:avLst/>
          </a:prstGeom>
          <a:noFill/>
          <a:ln>
            <a:noFill/>
          </a:ln>
        </p:spPr>
      </p:pic>
      <p:pic>
        <p:nvPicPr>
          <p:cNvPr id="162" name="Google Shape;162;p29"/>
          <p:cNvPicPr preferRelativeResize="0"/>
          <p:nvPr/>
        </p:nvPicPr>
        <p:blipFill>
          <a:blip r:embed="rId4">
            <a:alphaModFix/>
          </a:blip>
          <a:stretch>
            <a:fillRect/>
          </a:stretch>
        </p:blipFill>
        <p:spPr>
          <a:xfrm>
            <a:off x="4258225" y="661150"/>
            <a:ext cx="4751299" cy="42470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xfrm>
            <a:off x="311700" y="145675"/>
            <a:ext cx="8520600" cy="650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t>Data Modelling</a:t>
            </a:r>
            <a:endParaRPr/>
          </a:p>
        </p:txBody>
      </p:sp>
      <p:sp>
        <p:nvSpPr>
          <p:cNvPr id="168" name="Google Shape;168;p30"/>
          <p:cNvSpPr txBox="1">
            <a:spLocks noGrp="1"/>
          </p:cNvSpPr>
          <p:nvPr>
            <p:ph type="body" idx="1"/>
          </p:nvPr>
        </p:nvSpPr>
        <p:spPr>
          <a:xfrm>
            <a:off x="311700" y="862850"/>
            <a:ext cx="8520600" cy="4078800"/>
          </a:xfrm>
          <a:prstGeom prst="rect">
            <a:avLst/>
          </a:prstGeom>
        </p:spPr>
        <p:txBody>
          <a:bodyPr spcFirstLastPara="1" wrap="square" lIns="91425" tIns="91425" rIns="91425" bIns="91425" anchor="t" anchorCtr="0">
            <a:normAutofit fontScale="25000"/>
          </a:bodyPr>
          <a:lstStyle/>
          <a:p>
            <a:pPr marL="0" lvl="0" indent="0" algn="l" rtl="0">
              <a:spcBef>
                <a:spcPts val="0"/>
              </a:spcBef>
              <a:spcAft>
                <a:spcPts val="0"/>
              </a:spcAft>
              <a:buNone/>
            </a:pPr>
            <a:endParaRPr sz="1300">
              <a:solidFill>
                <a:schemeClr val="dk1"/>
              </a:solidFill>
            </a:endParaRPr>
          </a:p>
          <a:p>
            <a:pPr marL="0" lvl="0" indent="0" algn="l" rtl="0">
              <a:spcBef>
                <a:spcPts val="0"/>
              </a:spcBef>
              <a:spcAft>
                <a:spcPts val="0"/>
              </a:spcAft>
              <a:buNone/>
            </a:pPr>
            <a:r>
              <a:rPr lang="en" sz="5600">
                <a:solidFill>
                  <a:schemeClr val="dk1"/>
                </a:solidFill>
              </a:rPr>
              <a:t>In the Modelling phase, a suitable selection of modeling techniques, algorithms or combinations are done. After that, optimal algorithm parameter values are chosen</a:t>
            </a:r>
            <a:endParaRPr sz="5600">
              <a:solidFill>
                <a:schemeClr val="dk1"/>
              </a:solidFill>
            </a:endParaRPr>
          </a:p>
          <a:p>
            <a:pPr marL="0" lvl="0" indent="0" algn="l" rtl="0">
              <a:spcBef>
                <a:spcPts val="0"/>
              </a:spcBef>
              <a:spcAft>
                <a:spcPts val="0"/>
              </a:spcAft>
              <a:buNone/>
            </a:pPr>
            <a:endParaRPr sz="5600">
              <a:solidFill>
                <a:schemeClr val="dk1"/>
              </a:solidFill>
            </a:endParaRPr>
          </a:p>
          <a:p>
            <a:pPr marL="0" lvl="0" indent="0" algn="l" rtl="0">
              <a:spcBef>
                <a:spcPts val="0"/>
              </a:spcBef>
              <a:spcAft>
                <a:spcPts val="0"/>
              </a:spcAft>
              <a:buNone/>
            </a:pPr>
            <a:r>
              <a:rPr lang="en" sz="5600">
                <a:solidFill>
                  <a:schemeClr val="dk1"/>
                </a:solidFill>
              </a:rPr>
              <a:t>It is a technique based on Bayes’ Theorem with an assumption of independence among predictors. In simple terms, a Naive Bayes classifier assumes that the presence of a particular feature in a class is unrelated to the presence of any other feature</a:t>
            </a:r>
            <a:endParaRPr sz="5600">
              <a:solidFill>
                <a:schemeClr val="dk1"/>
              </a:solidFill>
            </a:endParaRPr>
          </a:p>
          <a:p>
            <a:pPr marL="0" lvl="0" indent="0" algn="l" rtl="0">
              <a:spcBef>
                <a:spcPts val="0"/>
              </a:spcBef>
              <a:spcAft>
                <a:spcPts val="0"/>
              </a:spcAft>
              <a:buNone/>
            </a:pPr>
            <a:endParaRPr sz="5600">
              <a:solidFill>
                <a:schemeClr val="dk1"/>
              </a:solidFill>
            </a:endParaRPr>
          </a:p>
          <a:p>
            <a:pPr marL="0" lvl="0" indent="0" algn="l" rtl="0">
              <a:spcBef>
                <a:spcPts val="0"/>
              </a:spcBef>
              <a:spcAft>
                <a:spcPts val="0"/>
              </a:spcAft>
              <a:buNone/>
            </a:pPr>
            <a:r>
              <a:rPr lang="en" sz="5600">
                <a:solidFill>
                  <a:schemeClr val="dk1"/>
                </a:solidFill>
              </a:rPr>
              <a:t>Machine learning algorithms build a model based on sample data, known as "training data", in order to make predictions or decisions without being explicitly programmed to do so. The performance of the fake news identification on the dataset was predicted by implementing machine learning algorithms. The algorithms used were:</a:t>
            </a:r>
            <a:endParaRPr sz="5600">
              <a:solidFill>
                <a:schemeClr val="dk1"/>
              </a:solidFill>
            </a:endParaRPr>
          </a:p>
          <a:p>
            <a:pPr marL="0" lvl="0" indent="0" algn="l" rtl="0">
              <a:spcBef>
                <a:spcPts val="0"/>
              </a:spcBef>
              <a:spcAft>
                <a:spcPts val="0"/>
              </a:spcAft>
              <a:buNone/>
            </a:pPr>
            <a:endParaRPr sz="5600">
              <a:solidFill>
                <a:schemeClr val="dk1"/>
              </a:solidFill>
            </a:endParaRPr>
          </a:p>
          <a:p>
            <a:pPr marL="0" lvl="0" indent="0" algn="l" rtl="0">
              <a:spcBef>
                <a:spcPts val="0"/>
              </a:spcBef>
              <a:spcAft>
                <a:spcPts val="0"/>
              </a:spcAft>
              <a:buClr>
                <a:schemeClr val="dk1"/>
              </a:buClr>
              <a:buSzPts val="275"/>
              <a:buFont typeface="Arial"/>
              <a:buNone/>
            </a:pPr>
            <a:r>
              <a:rPr lang="en" sz="5600">
                <a:solidFill>
                  <a:schemeClr val="dk1"/>
                </a:solidFill>
              </a:rPr>
              <a:t>.</a:t>
            </a:r>
            <a:endParaRPr sz="5600">
              <a:solidFill>
                <a:schemeClr val="dk1"/>
              </a:solidFill>
            </a:endParaRPr>
          </a:p>
          <a:p>
            <a:pPr marL="0" lvl="0" indent="0" algn="l" rtl="0">
              <a:spcBef>
                <a:spcPts val="0"/>
              </a:spcBef>
              <a:spcAft>
                <a:spcPts val="12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1"/>
          <p:cNvSpPr txBox="1">
            <a:spLocks noGrp="1"/>
          </p:cNvSpPr>
          <p:nvPr>
            <p:ph type="title"/>
          </p:nvPr>
        </p:nvSpPr>
        <p:spPr>
          <a:xfrm>
            <a:off x="311700" y="179300"/>
            <a:ext cx="8520600" cy="694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t>Data Modelling</a:t>
            </a:r>
            <a:endParaRPr/>
          </a:p>
        </p:txBody>
      </p:sp>
      <p:sp>
        <p:nvSpPr>
          <p:cNvPr id="174" name="Google Shape;174;p31"/>
          <p:cNvSpPr txBox="1">
            <a:spLocks noGrp="1"/>
          </p:cNvSpPr>
          <p:nvPr>
            <p:ph type="body" idx="1"/>
          </p:nvPr>
        </p:nvSpPr>
        <p:spPr>
          <a:xfrm>
            <a:off x="311700" y="874100"/>
            <a:ext cx="4596600" cy="4067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300">
                <a:solidFill>
                  <a:schemeClr val="dk1"/>
                </a:solidFill>
              </a:rPr>
              <a:t>Naive Bayes model is easy to build and particularly useful for very large data sets. Along with simplicity, Naive Bayes is known to outperform even highly sophisticated classification methods.  Bayes theorem provides a way of calculating posterior probability P(c|x) from P(c), P(x) and P(x|c)</a:t>
            </a:r>
            <a:endParaRPr sz="13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1200"/>
              </a:spcAft>
              <a:buNone/>
            </a:pPr>
            <a:endParaRPr/>
          </a:p>
        </p:txBody>
      </p:sp>
      <p:pic>
        <p:nvPicPr>
          <p:cNvPr id="175" name="Google Shape;175;p31"/>
          <p:cNvPicPr preferRelativeResize="0"/>
          <p:nvPr/>
        </p:nvPicPr>
        <p:blipFill>
          <a:blip r:embed="rId3">
            <a:alphaModFix/>
          </a:blip>
          <a:stretch>
            <a:fillRect/>
          </a:stretch>
        </p:blipFill>
        <p:spPr>
          <a:xfrm>
            <a:off x="311700" y="2277025"/>
            <a:ext cx="4170225" cy="2349175"/>
          </a:xfrm>
          <a:prstGeom prst="rect">
            <a:avLst/>
          </a:prstGeom>
          <a:noFill/>
          <a:ln>
            <a:noFill/>
          </a:ln>
        </p:spPr>
      </p:pic>
      <p:sp>
        <p:nvSpPr>
          <p:cNvPr id="176" name="Google Shape;176;p31"/>
          <p:cNvSpPr txBox="1"/>
          <p:nvPr/>
        </p:nvSpPr>
        <p:spPr>
          <a:xfrm>
            <a:off x="4930600" y="2277025"/>
            <a:ext cx="4045200" cy="25134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Clr>
                <a:schemeClr val="dk1"/>
              </a:buClr>
              <a:buSzPts val="1100"/>
              <a:buFont typeface="Arial"/>
              <a:buNone/>
            </a:pPr>
            <a:r>
              <a:rPr lang="en" sz="1300">
                <a:solidFill>
                  <a:schemeClr val="dk1"/>
                </a:solidFill>
              </a:rPr>
              <a:t>Above,</a:t>
            </a:r>
            <a:endParaRPr sz="1300">
              <a:solidFill>
                <a:schemeClr val="dk1"/>
              </a:solidFill>
            </a:endParaRPr>
          </a:p>
          <a:p>
            <a:pPr marL="457200" lvl="0" indent="-311150" algn="just" rtl="0">
              <a:lnSpc>
                <a:spcPct val="115000"/>
              </a:lnSpc>
              <a:spcBef>
                <a:spcPts val="1200"/>
              </a:spcBef>
              <a:spcAft>
                <a:spcPts val="0"/>
              </a:spcAft>
              <a:buClr>
                <a:schemeClr val="dk1"/>
              </a:buClr>
              <a:buSzPts val="1300"/>
              <a:buChar char="●"/>
            </a:pPr>
            <a:r>
              <a:rPr lang="en" sz="1300">
                <a:solidFill>
                  <a:schemeClr val="dk1"/>
                </a:solidFill>
              </a:rPr>
              <a:t>P(c|x) is the posterior probability of class (c, target) given predictor (x, attributes).</a:t>
            </a:r>
            <a:endParaRPr sz="1300">
              <a:solidFill>
                <a:schemeClr val="dk1"/>
              </a:solidFill>
            </a:endParaRPr>
          </a:p>
          <a:p>
            <a:pPr marL="457200" lvl="0" indent="-311150" algn="just" rtl="0">
              <a:lnSpc>
                <a:spcPct val="115000"/>
              </a:lnSpc>
              <a:spcBef>
                <a:spcPts val="0"/>
              </a:spcBef>
              <a:spcAft>
                <a:spcPts val="0"/>
              </a:spcAft>
              <a:buClr>
                <a:schemeClr val="dk1"/>
              </a:buClr>
              <a:buSzPts val="1300"/>
              <a:buChar char="●"/>
            </a:pPr>
            <a:r>
              <a:rPr lang="en" sz="1300">
                <a:solidFill>
                  <a:schemeClr val="dk1"/>
                </a:solidFill>
              </a:rPr>
              <a:t>P(c) is the prior probability of class.</a:t>
            </a:r>
            <a:endParaRPr sz="1300">
              <a:solidFill>
                <a:schemeClr val="dk1"/>
              </a:solidFill>
            </a:endParaRPr>
          </a:p>
          <a:p>
            <a:pPr marL="457200" lvl="0" indent="-311150" algn="just" rtl="0">
              <a:lnSpc>
                <a:spcPct val="115000"/>
              </a:lnSpc>
              <a:spcBef>
                <a:spcPts val="0"/>
              </a:spcBef>
              <a:spcAft>
                <a:spcPts val="0"/>
              </a:spcAft>
              <a:buClr>
                <a:schemeClr val="dk1"/>
              </a:buClr>
              <a:buSzPts val="1300"/>
              <a:buChar char="●"/>
            </a:pPr>
            <a:r>
              <a:rPr lang="en" sz="1300">
                <a:solidFill>
                  <a:schemeClr val="dk1"/>
                </a:solidFill>
              </a:rPr>
              <a:t>P(x|c) is the likelihood which is the probability of predictor given class.</a:t>
            </a:r>
            <a:endParaRPr sz="1300">
              <a:solidFill>
                <a:schemeClr val="dk1"/>
              </a:solidFill>
            </a:endParaRPr>
          </a:p>
          <a:p>
            <a:pPr marL="457200" lvl="0" indent="-311150" algn="just" rtl="0">
              <a:lnSpc>
                <a:spcPct val="115000"/>
              </a:lnSpc>
              <a:spcBef>
                <a:spcPts val="0"/>
              </a:spcBef>
              <a:spcAft>
                <a:spcPts val="0"/>
              </a:spcAft>
              <a:buClr>
                <a:schemeClr val="dk1"/>
              </a:buClr>
              <a:buSzPts val="1300"/>
              <a:buChar char="●"/>
            </a:pPr>
            <a:r>
              <a:rPr lang="en" sz="1300">
                <a:solidFill>
                  <a:schemeClr val="dk1"/>
                </a:solidFill>
              </a:rPr>
              <a:t>P(x) is the prior probability of predictor.</a:t>
            </a:r>
            <a:endParaRPr sz="1300">
              <a:solidFill>
                <a:schemeClr val="dk1"/>
              </a:solidFill>
            </a:endParaRPr>
          </a:p>
          <a:p>
            <a:pPr marL="457200" lvl="0" indent="-285750" algn="l" rtl="0">
              <a:lnSpc>
                <a:spcPct val="115000"/>
              </a:lnSpc>
              <a:spcBef>
                <a:spcPts val="0"/>
              </a:spcBef>
              <a:spcAft>
                <a:spcPts val="0"/>
              </a:spcAft>
              <a:buClr>
                <a:schemeClr val="dk1"/>
              </a:buClr>
              <a:buSzPts val="900"/>
              <a:buChar char="●"/>
            </a:pPr>
            <a:endParaRPr sz="1100">
              <a:solidFill>
                <a:schemeClr val="dk1"/>
              </a:solidFill>
            </a:endParaRPr>
          </a:p>
          <a:p>
            <a:pPr marL="0" lvl="0" indent="0" algn="l" rtl="0">
              <a:spcBef>
                <a:spcPts val="120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2"/>
          <p:cNvSpPr txBox="1">
            <a:spLocks noGrp="1"/>
          </p:cNvSpPr>
          <p:nvPr>
            <p:ph type="title"/>
          </p:nvPr>
        </p:nvSpPr>
        <p:spPr>
          <a:xfrm>
            <a:off x="311700" y="168100"/>
            <a:ext cx="8520600" cy="627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t>Performance and Results</a:t>
            </a:r>
            <a:endParaRPr/>
          </a:p>
        </p:txBody>
      </p:sp>
      <p:sp>
        <p:nvSpPr>
          <p:cNvPr id="182" name="Google Shape;182;p32"/>
          <p:cNvSpPr txBox="1">
            <a:spLocks noGrp="1"/>
          </p:cNvSpPr>
          <p:nvPr>
            <p:ph type="body" idx="1"/>
          </p:nvPr>
        </p:nvSpPr>
        <p:spPr>
          <a:xfrm>
            <a:off x="311700" y="795700"/>
            <a:ext cx="8520600" cy="4146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400">
                <a:solidFill>
                  <a:schemeClr val="dk1"/>
                </a:solidFill>
              </a:rPr>
              <a:t>In the field of machine learning and specifically the problem of statistical classification as in our case, a confusion matrix, also known as an error matrix, is a specific table layout that allows visualization of the performance of an algorithm, typically a supervised learning one (in unsupervised learning it is usually called a matching matrix). </a:t>
            </a:r>
            <a:endParaRPr sz="1400">
              <a:solidFill>
                <a:schemeClr val="dk1"/>
              </a:solidFill>
            </a:endParaRPr>
          </a:p>
          <a:p>
            <a:pPr marL="0" lvl="0" indent="0" algn="l" rtl="0">
              <a:spcBef>
                <a:spcPts val="0"/>
              </a:spcBef>
              <a:spcAft>
                <a:spcPts val="0"/>
              </a:spcAft>
              <a:buClr>
                <a:schemeClr val="dk1"/>
              </a:buClr>
              <a:buSzPts val="1100"/>
              <a:buFont typeface="Arial"/>
              <a:buNone/>
            </a:pPr>
            <a:r>
              <a:rPr lang="en" sz="1400">
                <a:solidFill>
                  <a:schemeClr val="dk1"/>
                </a:solidFill>
              </a:rPr>
              <a:t>Each row of the matrix represents the instances in an actual class while each column represents the instances in a predicted class, or vice versa. The name stems from the fact that it makes it easy to see whether the system is confusing two/multi classes (i.e., commonly mislabeling one as another). The following are the interpretations from the confusion matrix.</a:t>
            </a:r>
            <a:endParaRPr sz="1400">
              <a:solidFill>
                <a:schemeClr val="dk1"/>
              </a:solidFill>
            </a:endParaRPr>
          </a:p>
          <a:p>
            <a:pPr marL="0" lvl="0" indent="0" algn="l" rtl="0">
              <a:spcBef>
                <a:spcPts val="0"/>
              </a:spcBef>
              <a:spcAft>
                <a:spcPts val="0"/>
              </a:spcAft>
              <a:buClr>
                <a:schemeClr val="dk1"/>
              </a:buClr>
              <a:buSzPts val="1100"/>
              <a:buFont typeface="Arial"/>
              <a:buNone/>
            </a:pPr>
            <a:endParaRPr sz="1400">
              <a:solidFill>
                <a:schemeClr val="dk1"/>
              </a:solidFill>
            </a:endParaRPr>
          </a:p>
          <a:p>
            <a:pPr marL="0" lvl="0" indent="342900" algn="l" rtl="0">
              <a:spcBef>
                <a:spcPts val="0"/>
              </a:spcBef>
              <a:spcAft>
                <a:spcPts val="0"/>
              </a:spcAft>
              <a:buClr>
                <a:schemeClr val="dk1"/>
              </a:buClr>
              <a:buSzPts val="1100"/>
              <a:buFont typeface="Arial"/>
              <a:buNone/>
            </a:pPr>
            <a:r>
              <a:rPr lang="en" sz="1400">
                <a:solidFill>
                  <a:schemeClr val="dk1"/>
                </a:solidFill>
              </a:rPr>
              <a:t>1. True Positive: You predicted positive and it’s true</a:t>
            </a:r>
            <a:endParaRPr sz="1400">
              <a:solidFill>
                <a:schemeClr val="dk1"/>
              </a:solidFill>
            </a:endParaRPr>
          </a:p>
          <a:p>
            <a:pPr marL="0" lvl="0" indent="342900" algn="l" rtl="0">
              <a:spcBef>
                <a:spcPts val="0"/>
              </a:spcBef>
              <a:spcAft>
                <a:spcPts val="0"/>
              </a:spcAft>
              <a:buClr>
                <a:schemeClr val="dk1"/>
              </a:buClr>
              <a:buSzPts val="1100"/>
              <a:buFont typeface="Arial"/>
              <a:buNone/>
            </a:pPr>
            <a:r>
              <a:rPr lang="en" sz="1400">
                <a:solidFill>
                  <a:schemeClr val="dk1"/>
                </a:solidFill>
              </a:rPr>
              <a:t>2. True Negative: You predicted negative and it’s true.</a:t>
            </a:r>
            <a:endParaRPr sz="1400">
              <a:solidFill>
                <a:schemeClr val="dk1"/>
              </a:solidFill>
            </a:endParaRPr>
          </a:p>
          <a:p>
            <a:pPr marL="0" lvl="0" indent="342900" algn="l" rtl="0">
              <a:spcBef>
                <a:spcPts val="0"/>
              </a:spcBef>
              <a:spcAft>
                <a:spcPts val="0"/>
              </a:spcAft>
              <a:buClr>
                <a:schemeClr val="dk1"/>
              </a:buClr>
              <a:buSzPts val="1100"/>
              <a:buFont typeface="Arial"/>
              <a:buNone/>
            </a:pPr>
            <a:r>
              <a:rPr lang="en" sz="1400">
                <a:solidFill>
                  <a:schemeClr val="dk1"/>
                </a:solidFill>
              </a:rPr>
              <a:t>3. False Positive: You predicted positive and it’s false.</a:t>
            </a:r>
            <a:endParaRPr sz="1400">
              <a:solidFill>
                <a:schemeClr val="dk1"/>
              </a:solidFill>
            </a:endParaRPr>
          </a:p>
          <a:p>
            <a:pPr marL="0" lvl="0" indent="342900" algn="l" rtl="0">
              <a:spcBef>
                <a:spcPts val="0"/>
              </a:spcBef>
              <a:spcAft>
                <a:spcPts val="0"/>
              </a:spcAft>
              <a:buClr>
                <a:schemeClr val="dk1"/>
              </a:buClr>
              <a:buSzPts val="1100"/>
              <a:buFont typeface="Arial"/>
              <a:buNone/>
            </a:pPr>
            <a:r>
              <a:rPr lang="en" sz="1400">
                <a:solidFill>
                  <a:schemeClr val="dk1"/>
                </a:solidFill>
              </a:rPr>
              <a:t>4. False Negative: You predicted negative and it’s false.</a:t>
            </a:r>
            <a:endParaRPr sz="14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120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3"/>
          <p:cNvSpPr txBox="1">
            <a:spLocks noGrp="1"/>
          </p:cNvSpPr>
          <p:nvPr>
            <p:ph type="title"/>
          </p:nvPr>
        </p:nvSpPr>
        <p:spPr>
          <a:xfrm>
            <a:off x="311700" y="168075"/>
            <a:ext cx="8520600" cy="638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t>Performance and Results</a:t>
            </a:r>
            <a:endParaRPr/>
          </a:p>
        </p:txBody>
      </p:sp>
      <p:sp>
        <p:nvSpPr>
          <p:cNvPr id="188" name="Google Shape;188;p33"/>
          <p:cNvSpPr txBox="1">
            <a:spLocks noGrp="1"/>
          </p:cNvSpPr>
          <p:nvPr>
            <p:ph type="body" idx="1"/>
          </p:nvPr>
        </p:nvSpPr>
        <p:spPr>
          <a:xfrm>
            <a:off x="311700" y="851600"/>
            <a:ext cx="3868200" cy="4045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300">
                <a:solidFill>
                  <a:schemeClr val="dk1"/>
                </a:solidFill>
              </a:rPr>
              <a:t>This phase involved checking the efficiency of the model. This is done by dividing our data into training and testing data before applying the model. The tasks performed under evaluation phase is to check the accuracy of our model on testing data. If the accuracy of the model is not up to the mark, alternative models can be deployed. In our case, the model should accurately classify the news into fake news and true news once the models achieve the required accuracy. The following is the evaluation as well as categorization of the results.</a:t>
            </a:r>
            <a:endParaRPr sz="13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1200"/>
              </a:spcAft>
              <a:buNone/>
            </a:pPr>
            <a:endParaRPr/>
          </a:p>
        </p:txBody>
      </p:sp>
      <p:pic>
        <p:nvPicPr>
          <p:cNvPr id="189" name="Google Shape;189;p33"/>
          <p:cNvPicPr preferRelativeResize="0"/>
          <p:nvPr/>
        </p:nvPicPr>
        <p:blipFill>
          <a:blip r:embed="rId3">
            <a:alphaModFix/>
          </a:blip>
          <a:stretch>
            <a:fillRect/>
          </a:stretch>
        </p:blipFill>
        <p:spPr>
          <a:xfrm>
            <a:off x="4515975" y="291350"/>
            <a:ext cx="4478825" cy="47290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4"/>
          <p:cNvSpPr txBox="1">
            <a:spLocks noGrp="1"/>
          </p:cNvSpPr>
          <p:nvPr>
            <p:ph type="title"/>
          </p:nvPr>
        </p:nvSpPr>
        <p:spPr>
          <a:xfrm>
            <a:off x="266875" y="56025"/>
            <a:ext cx="8520600" cy="594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Performance and Results</a:t>
            </a:r>
            <a:endParaRPr/>
          </a:p>
        </p:txBody>
      </p:sp>
      <p:sp>
        <p:nvSpPr>
          <p:cNvPr id="195" name="Google Shape;195;p34"/>
          <p:cNvSpPr txBox="1">
            <a:spLocks noGrp="1"/>
          </p:cNvSpPr>
          <p:nvPr>
            <p:ph type="body" idx="1"/>
          </p:nvPr>
        </p:nvSpPr>
        <p:spPr>
          <a:xfrm>
            <a:off x="311700" y="851600"/>
            <a:ext cx="8520600" cy="4023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96" name="Google Shape;196;p34"/>
          <p:cNvPicPr preferRelativeResize="0"/>
          <p:nvPr/>
        </p:nvPicPr>
        <p:blipFill>
          <a:blip r:embed="rId3">
            <a:alphaModFix/>
          </a:blip>
          <a:stretch>
            <a:fillRect/>
          </a:stretch>
        </p:blipFill>
        <p:spPr>
          <a:xfrm>
            <a:off x="145675" y="650025"/>
            <a:ext cx="8686625" cy="4359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5"/>
          <p:cNvSpPr txBox="1">
            <a:spLocks noGrp="1"/>
          </p:cNvSpPr>
          <p:nvPr>
            <p:ph type="title"/>
          </p:nvPr>
        </p:nvSpPr>
        <p:spPr>
          <a:xfrm>
            <a:off x="311700" y="168100"/>
            <a:ext cx="8520600" cy="571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Performance and Results</a:t>
            </a:r>
            <a:endParaRPr/>
          </a:p>
          <a:p>
            <a:pPr marL="0" lvl="0" indent="0" algn="l" rtl="0">
              <a:spcBef>
                <a:spcPts val="0"/>
              </a:spcBef>
              <a:spcAft>
                <a:spcPts val="0"/>
              </a:spcAft>
              <a:buNone/>
            </a:pPr>
            <a:endParaRPr/>
          </a:p>
        </p:txBody>
      </p:sp>
      <p:sp>
        <p:nvSpPr>
          <p:cNvPr id="202" name="Google Shape;202;p35"/>
          <p:cNvSpPr txBox="1">
            <a:spLocks noGrp="1"/>
          </p:cNvSpPr>
          <p:nvPr>
            <p:ph type="body" idx="1"/>
          </p:nvPr>
        </p:nvSpPr>
        <p:spPr>
          <a:xfrm>
            <a:off x="311700" y="739600"/>
            <a:ext cx="8520600" cy="41463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03" name="Google Shape;203;p35"/>
          <p:cNvPicPr preferRelativeResize="0"/>
          <p:nvPr/>
        </p:nvPicPr>
        <p:blipFill>
          <a:blip r:embed="rId3">
            <a:alphaModFix/>
          </a:blip>
          <a:stretch>
            <a:fillRect/>
          </a:stretch>
        </p:blipFill>
        <p:spPr>
          <a:xfrm>
            <a:off x="311700" y="627537"/>
            <a:ext cx="8520600" cy="437042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6"/>
          <p:cNvSpPr txBox="1">
            <a:spLocks noGrp="1"/>
          </p:cNvSpPr>
          <p:nvPr>
            <p:ph type="title"/>
          </p:nvPr>
        </p:nvSpPr>
        <p:spPr>
          <a:xfrm>
            <a:off x="311700" y="134475"/>
            <a:ext cx="8520600" cy="605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Performance and Results</a:t>
            </a:r>
            <a:endParaRPr/>
          </a:p>
        </p:txBody>
      </p:sp>
      <p:sp>
        <p:nvSpPr>
          <p:cNvPr id="209" name="Google Shape;209;p36"/>
          <p:cNvSpPr txBox="1">
            <a:spLocks noGrp="1"/>
          </p:cNvSpPr>
          <p:nvPr>
            <p:ph type="body" idx="1"/>
          </p:nvPr>
        </p:nvSpPr>
        <p:spPr>
          <a:xfrm>
            <a:off x="311700" y="784400"/>
            <a:ext cx="8520600" cy="41463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10" name="Google Shape;210;p36"/>
          <p:cNvPicPr preferRelativeResize="0"/>
          <p:nvPr/>
        </p:nvPicPr>
        <p:blipFill>
          <a:blip r:embed="rId3">
            <a:alphaModFix/>
          </a:blip>
          <a:stretch>
            <a:fillRect/>
          </a:stretch>
        </p:blipFill>
        <p:spPr>
          <a:xfrm>
            <a:off x="246525" y="784400"/>
            <a:ext cx="8639751" cy="42470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Conclusion</a:t>
            </a:r>
            <a:endParaRPr/>
          </a:p>
        </p:txBody>
      </p:sp>
      <p:sp>
        <p:nvSpPr>
          <p:cNvPr id="216" name="Google Shape;216;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Clr>
                <a:schemeClr val="dk1"/>
              </a:buClr>
              <a:buSzPct val="78571"/>
              <a:buFont typeface="Arial"/>
              <a:buNone/>
            </a:pPr>
            <a:r>
              <a:rPr lang="en" sz="1400" dirty="0">
                <a:solidFill>
                  <a:schemeClr val="dk1"/>
                </a:solidFill>
              </a:rPr>
              <a:t>Goals: Based on the selected topic we can do Data Visualization and Analysis, Text preprocessing, NLP, TF-IDF, Naïve Bayes Classifier</a:t>
            </a:r>
            <a:endParaRPr sz="1400" dirty="0">
              <a:solidFill>
                <a:schemeClr val="dk1"/>
              </a:solidFill>
            </a:endParaRPr>
          </a:p>
          <a:p>
            <a:pPr marL="0" lvl="0" indent="0" algn="l" rtl="0">
              <a:spcBef>
                <a:spcPts val="0"/>
              </a:spcBef>
              <a:spcAft>
                <a:spcPts val="0"/>
              </a:spcAft>
              <a:buClr>
                <a:schemeClr val="dk1"/>
              </a:buClr>
              <a:buSzPct val="78571"/>
              <a:buFont typeface="Arial"/>
              <a:buNone/>
            </a:pPr>
            <a:endParaRPr sz="1400" dirty="0">
              <a:solidFill>
                <a:schemeClr val="dk1"/>
              </a:solidFill>
            </a:endParaRPr>
          </a:p>
          <a:p>
            <a:pPr marL="0" lvl="0" indent="0" algn="l" rtl="0">
              <a:spcBef>
                <a:spcPts val="0"/>
              </a:spcBef>
              <a:spcAft>
                <a:spcPts val="0"/>
              </a:spcAft>
              <a:buClr>
                <a:schemeClr val="dk1"/>
              </a:buClr>
              <a:buSzPct val="78571"/>
              <a:buFont typeface="Arial"/>
              <a:buNone/>
            </a:pPr>
            <a:endParaRPr sz="1400" dirty="0">
              <a:solidFill>
                <a:schemeClr val="dk1"/>
              </a:solidFill>
            </a:endParaRPr>
          </a:p>
          <a:p>
            <a:pPr marL="0" lvl="0" indent="0" algn="l" rtl="0">
              <a:spcBef>
                <a:spcPts val="0"/>
              </a:spcBef>
              <a:spcAft>
                <a:spcPts val="0"/>
              </a:spcAft>
              <a:buClr>
                <a:schemeClr val="dk1"/>
              </a:buClr>
              <a:buSzPct val="78571"/>
              <a:buFont typeface="Arial"/>
              <a:buNone/>
            </a:pPr>
            <a:r>
              <a:rPr lang="en" sz="1400" dirty="0">
                <a:solidFill>
                  <a:schemeClr val="dk1"/>
                </a:solidFill>
              </a:rPr>
              <a:t>The US has the largest pharmaceutical market in the world. If anyone wants to buy a drug, WebMD is the largest website in terms of page views and clicks. It is assumed to be a legitimate source of information. I decided to use the data from the website regarding the reviews posted by the patients or caretakers on the website. It will give us a good overview of a particular drug if we get the sentiment analysis in the reviews.  WebMD is an organization which provides information, support and reference material about health subjects through a team of doctors and health experts across a broad range of specialty areas. </a:t>
            </a:r>
            <a:endParaRPr sz="1400" dirty="0">
              <a:solidFill>
                <a:schemeClr val="dk1"/>
              </a:solidFill>
            </a:endParaRPr>
          </a:p>
          <a:p>
            <a:pPr marL="0" lvl="0" indent="0" algn="l" rtl="0">
              <a:spcBef>
                <a:spcPts val="0"/>
              </a:spcBef>
              <a:spcAft>
                <a:spcPts val="0"/>
              </a:spcAft>
              <a:buClr>
                <a:schemeClr val="dk1"/>
              </a:buClr>
              <a:buSzPct val="78571"/>
              <a:buFont typeface="Arial"/>
              <a:buNone/>
            </a:pPr>
            <a:endParaRPr sz="1400" dirty="0">
              <a:solidFill>
                <a:schemeClr val="dk1"/>
              </a:solidFill>
            </a:endParaRPr>
          </a:p>
          <a:p>
            <a:pPr marL="0" lvl="0" indent="0" algn="l" rtl="0">
              <a:spcBef>
                <a:spcPts val="0"/>
              </a:spcBef>
              <a:spcAft>
                <a:spcPts val="0"/>
              </a:spcAft>
              <a:buClr>
                <a:schemeClr val="dk1"/>
              </a:buClr>
              <a:buSzPct val="78571"/>
              <a:buFont typeface="Arial"/>
              <a:buNone/>
            </a:pPr>
            <a:r>
              <a:rPr lang="en" sz="1400" dirty="0">
                <a:solidFill>
                  <a:schemeClr val="dk1"/>
                </a:solidFill>
              </a:rPr>
              <a:t> The main objective of this notebook was to perform sentiment analysis on the reviews to predict if the reviewer was satisfied with the drug he or she rated or not.  Sentiment analysis (also known as opinion mining or emotion AI) refers to the use of natural language processing, text analysis, computational linguistics, and biometrics to systematically identify, extract, quantify, and study affective states and subjective information</a:t>
            </a:r>
            <a:endParaRPr sz="1400" dirty="0">
              <a:solidFill>
                <a:schemeClr val="dk1"/>
              </a:solidFill>
            </a:endParaRPr>
          </a:p>
          <a:p>
            <a:pPr marL="0" lvl="0" indent="0" algn="l" rtl="0">
              <a:spcBef>
                <a:spcPts val="0"/>
              </a:spcBef>
              <a:spcAft>
                <a:spcPts val="0"/>
              </a:spcAft>
              <a:buClr>
                <a:schemeClr val="dk1"/>
              </a:buClr>
              <a:buSzPct val="100000"/>
              <a:buFont typeface="Arial"/>
              <a:buNone/>
            </a:pPr>
            <a:endParaRPr sz="1100" dirty="0">
              <a:solidFill>
                <a:schemeClr val="dk1"/>
              </a:solidFill>
            </a:endParaRPr>
          </a:p>
          <a:p>
            <a:pPr marL="0" lvl="0" indent="0" algn="l" rtl="0">
              <a:spcBef>
                <a:spcPts val="0"/>
              </a:spcBef>
              <a:spcAft>
                <a:spcPts val="1200"/>
              </a:spcAft>
              <a:buNone/>
            </a:pP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1758</Words>
  <Application>Microsoft Office PowerPoint</Application>
  <PresentationFormat>On-screen Show (16:9)</PresentationFormat>
  <Paragraphs>129</Paragraphs>
  <Slides>25</Slides>
  <Notes>25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25</vt:i4>
      </vt:variant>
    </vt:vector>
  </HeadingPairs>
  <TitlesOfParts>
    <vt:vector size="27" baseType="lpstr">
      <vt:lpstr>Arial</vt:lpstr>
      <vt:lpstr>Simple Light</vt:lpstr>
      <vt:lpstr>Drug Review Data Analysis  </vt:lpstr>
      <vt:lpstr>Contents</vt:lpstr>
      <vt:lpstr>Introduction</vt:lpstr>
      <vt:lpstr>Agenda</vt:lpstr>
      <vt:lpstr>Data Understanding Phase</vt:lpstr>
      <vt:lpstr>Data Understanding Phase</vt:lpstr>
      <vt:lpstr>Data Understanding Phase</vt:lpstr>
      <vt:lpstr>Data Preparation Phase </vt:lpstr>
      <vt:lpstr>Exploratory Data Analysis</vt:lpstr>
      <vt:lpstr>Exploratory Data Analysis </vt:lpstr>
      <vt:lpstr>Exploratory Data Analysis</vt:lpstr>
      <vt:lpstr>Exploratory Data Analysis</vt:lpstr>
      <vt:lpstr>Exploratory Data Analysis</vt:lpstr>
      <vt:lpstr>Exploratory Data Analysis</vt:lpstr>
      <vt:lpstr>Exploratory Data Analysis</vt:lpstr>
      <vt:lpstr>Exploratory Data Analysis</vt:lpstr>
      <vt:lpstr>Exploratory Data Analysis</vt:lpstr>
      <vt:lpstr>Data Modelling</vt:lpstr>
      <vt:lpstr>Data Modelling</vt:lpstr>
      <vt:lpstr>Performance and Results</vt:lpstr>
      <vt:lpstr>Performance and Results</vt:lpstr>
      <vt:lpstr>Performance and Results</vt:lpstr>
      <vt:lpstr>Performance and Results </vt:lpstr>
      <vt:lpstr>Performance and 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YADAV</dc:creator>
  <cp:lastModifiedBy>Udari, Chandrakanth Ya</cp:lastModifiedBy>
  <cp:revision>1</cp:revision>
  <dcterms:modified xsi:type="dcterms:W3CDTF">2025-07-21T15:24:06Z</dcterms:modified>
</cp:coreProperties>
</file>